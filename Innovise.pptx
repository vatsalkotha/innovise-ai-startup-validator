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8288000" cy="10287000"/>
  <p:notesSz cx="6858000" cy="9144000"/>
  <p:embeddedFontLst>
    <p:embeddedFont>
      <p:font typeface="Black Ops One" panose="020B0604020202020204" charset="0"/>
      <p:regular r:id="rId9"/>
    </p:embeddedFont>
    <p:embeddedFont>
      <p:font typeface="Canva Sans Bold" panose="020B0604020202020204" charset="0"/>
      <p:regular r:id="rId10"/>
    </p:embeddedFont>
    <p:embeddedFont>
      <p:font typeface="Libre Baskerville" panose="02000000000000000000" pitchFamily="2" charset="0"/>
      <p:regular r:id="rId11"/>
      <p:bold r:id="rId12"/>
      <p:italic r:id="rId13"/>
    </p:embeddedFont>
    <p:embeddedFont>
      <p:font typeface="Montserrat Bold" panose="020B0604020202020204" charset="0"/>
      <p:regular r:id="rId14"/>
    </p:embeddedFont>
    <p:embeddedFont>
      <p:font typeface="Montserrat Medium" panose="00000600000000000000" pitchFamily="2" charset="0"/>
      <p:regular r:id="rId15"/>
      <p:italic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font" Target="fonts/font5.fntdata"/><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4.fntdata"/><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8.fntdata"/><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3.fntdata"/><Relationship Id="rId5" Type="http://schemas.openxmlformats.org/officeDocument/2006/relationships/slide" Target="slides/slide4.xml"/><Relationship Id="rId15" Type="http://schemas.openxmlformats.org/officeDocument/2006/relationships/font" Target="fonts/font7.fntdata"/><Relationship Id="rId10" Type="http://schemas.openxmlformats.org/officeDocument/2006/relationships/font" Target="fonts/font2.fntdata"/><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font" Target="fonts/font1.fntdata"/><Relationship Id="rId14"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68DED6-AA35-49EF-98F4-548CE2D8762C}" type="datetimeFigureOut">
              <a:rPr lang="en-IN" smtClean="0"/>
              <a:t>27-02-2025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819C48-58F7-4239-A830-5EC2AE562180}" type="slidenum">
              <a:rPr lang="en-IN" smtClean="0"/>
              <a:t>‹#›</a:t>
            </a:fld>
            <a:endParaRPr lang="en-IN"/>
          </a:p>
        </p:txBody>
      </p:sp>
    </p:spTree>
    <p:extLst>
      <p:ext uri="{BB962C8B-B14F-4D97-AF65-F5344CB8AC3E}">
        <p14:creationId xmlns:p14="http://schemas.microsoft.com/office/powerpoint/2010/main" val="4784772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5819C48-58F7-4239-A830-5EC2AE562180}" type="slidenum">
              <a:rPr lang="en-IN" smtClean="0"/>
              <a:t>4</a:t>
            </a:fld>
            <a:endParaRPr lang="en-IN"/>
          </a:p>
        </p:txBody>
      </p:sp>
    </p:spTree>
    <p:extLst>
      <p:ext uri="{BB962C8B-B14F-4D97-AF65-F5344CB8AC3E}">
        <p14:creationId xmlns:p14="http://schemas.microsoft.com/office/powerpoint/2010/main" val="13148223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2/27/2025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2/27/2025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2/27/2025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7.sv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sv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7.sv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5.svg"/><Relationship Id="rId7" Type="http://schemas.openxmlformats.org/officeDocument/2006/relationships/image" Target="../media/image11.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2.png"/><Relationship Id="rId5" Type="http://schemas.openxmlformats.org/officeDocument/2006/relationships/image" Target="../media/image7.sv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8072B"/>
        </a:solidFill>
        <a:effectLst/>
      </p:bgPr>
    </p:bg>
    <p:spTree>
      <p:nvGrpSpPr>
        <p:cNvPr id="1" name=""/>
        <p:cNvGrpSpPr/>
        <p:nvPr/>
      </p:nvGrpSpPr>
      <p:grpSpPr>
        <a:xfrm>
          <a:off x="0" y="0"/>
          <a:ext cx="0" cy="0"/>
          <a:chOff x="0" y="0"/>
          <a:chExt cx="0" cy="0"/>
        </a:xfrm>
      </p:grpSpPr>
      <p:grpSp>
        <p:nvGrpSpPr>
          <p:cNvPr id="2" name="Group 2"/>
          <p:cNvGrpSpPr/>
          <p:nvPr/>
        </p:nvGrpSpPr>
        <p:grpSpPr>
          <a:xfrm>
            <a:off x="405190" y="337265"/>
            <a:ext cx="2256844" cy="1382870"/>
            <a:chOff x="0" y="0"/>
            <a:chExt cx="2308817" cy="1414716"/>
          </a:xfrm>
        </p:grpSpPr>
        <p:sp>
          <p:nvSpPr>
            <p:cNvPr id="3" name="Freeform 3"/>
            <p:cNvSpPr/>
            <p:nvPr/>
          </p:nvSpPr>
          <p:spPr>
            <a:xfrm>
              <a:off x="0" y="0"/>
              <a:ext cx="2308860" cy="1414653"/>
            </a:xfrm>
            <a:custGeom>
              <a:avLst/>
              <a:gdLst/>
              <a:ahLst/>
              <a:cxnLst/>
              <a:rect l="l" t="t" r="r" b="b"/>
              <a:pathLst>
                <a:path w="2308860" h="1414653">
                  <a:moveTo>
                    <a:pt x="0" y="0"/>
                  </a:moveTo>
                  <a:lnTo>
                    <a:pt x="2308860" y="0"/>
                  </a:lnTo>
                  <a:lnTo>
                    <a:pt x="2308860" y="1414653"/>
                  </a:lnTo>
                  <a:lnTo>
                    <a:pt x="0" y="1414653"/>
                  </a:lnTo>
                  <a:lnTo>
                    <a:pt x="0" y="0"/>
                  </a:lnTo>
                  <a:close/>
                </a:path>
              </a:pathLst>
            </a:custGeom>
            <a:blipFill>
              <a:blip r:embed="rId2"/>
              <a:stretch>
                <a:fillRect l="-40" r="-38" b="-4"/>
              </a:stretch>
            </a:blipFill>
          </p:spPr>
          <p:txBody>
            <a:bodyPr/>
            <a:lstStyle/>
            <a:p>
              <a:endParaRPr lang="en-IN"/>
            </a:p>
          </p:txBody>
        </p:sp>
      </p:grpSp>
      <p:sp>
        <p:nvSpPr>
          <p:cNvPr id="4" name="TextBox 4"/>
          <p:cNvSpPr txBox="1"/>
          <p:nvPr/>
        </p:nvSpPr>
        <p:spPr>
          <a:xfrm>
            <a:off x="2430360" y="538930"/>
            <a:ext cx="13427280" cy="895389"/>
          </a:xfrm>
          <a:prstGeom prst="rect">
            <a:avLst/>
          </a:prstGeom>
        </p:spPr>
        <p:txBody>
          <a:bodyPr lIns="0" tIns="0" rIns="0" bIns="0" rtlCol="0" anchor="t">
            <a:spAutoFit/>
          </a:bodyPr>
          <a:lstStyle/>
          <a:p>
            <a:pPr algn="ctr">
              <a:lnSpc>
                <a:spcPts val="3584"/>
              </a:lnSpc>
            </a:pPr>
            <a:r>
              <a:rPr lang="en-US" sz="2560">
                <a:solidFill>
                  <a:srgbClr val="FFFFFF"/>
                </a:solidFill>
                <a:latin typeface="Libre Baskerville"/>
                <a:ea typeface="Libre Baskerville"/>
                <a:cs typeface="Libre Baskerville"/>
                <a:sym typeface="Libre Baskerville"/>
              </a:rPr>
              <a:t>VISHWANIKETAN'S INSTITUTE OF MANAGEMENT ENTREPRENEURSHIP AND ENGINEERING TECHNOLOGY  (VIMEET)</a:t>
            </a:r>
          </a:p>
        </p:txBody>
      </p:sp>
      <p:sp>
        <p:nvSpPr>
          <p:cNvPr id="5" name="Freeform 5"/>
          <p:cNvSpPr/>
          <p:nvPr/>
        </p:nvSpPr>
        <p:spPr>
          <a:xfrm>
            <a:off x="6374582" y="2246535"/>
            <a:ext cx="5724250" cy="5643694"/>
          </a:xfrm>
          <a:custGeom>
            <a:avLst/>
            <a:gdLst/>
            <a:ahLst/>
            <a:cxnLst/>
            <a:rect l="l" t="t" r="r" b="b"/>
            <a:pathLst>
              <a:path w="5724250" h="5643694">
                <a:moveTo>
                  <a:pt x="0" y="0"/>
                </a:moveTo>
                <a:lnTo>
                  <a:pt x="5724250" y="0"/>
                </a:lnTo>
                <a:lnTo>
                  <a:pt x="5724250" y="5643694"/>
                </a:lnTo>
                <a:lnTo>
                  <a:pt x="0" y="5643694"/>
                </a:lnTo>
                <a:lnTo>
                  <a:pt x="0" y="0"/>
                </a:lnTo>
                <a:close/>
              </a:path>
            </a:pathLst>
          </a:custGeom>
          <a:blipFill>
            <a:blip r:embed="rId3">
              <a:alphaModFix amt="81000"/>
            </a:blip>
            <a:stretch>
              <a:fillRect l="-48742" t="-27997" r="-43252" b="-66737"/>
            </a:stretch>
          </a:blipFill>
        </p:spPr>
        <p:txBody>
          <a:bodyPr/>
          <a:lstStyle/>
          <a:p>
            <a:endParaRPr lang="en-IN"/>
          </a:p>
        </p:txBody>
      </p:sp>
      <p:sp>
        <p:nvSpPr>
          <p:cNvPr id="6" name="TextBox 6"/>
          <p:cNvSpPr txBox="1"/>
          <p:nvPr/>
        </p:nvSpPr>
        <p:spPr>
          <a:xfrm>
            <a:off x="4265986" y="7190855"/>
            <a:ext cx="9756027" cy="1265398"/>
          </a:xfrm>
          <a:prstGeom prst="rect">
            <a:avLst/>
          </a:prstGeom>
        </p:spPr>
        <p:txBody>
          <a:bodyPr lIns="0" tIns="0" rIns="0" bIns="0" rtlCol="0" anchor="t">
            <a:spAutoFit/>
          </a:bodyPr>
          <a:lstStyle/>
          <a:p>
            <a:pPr algn="l">
              <a:lnSpc>
                <a:spcPts val="10466"/>
              </a:lnSpc>
            </a:pPr>
            <a:r>
              <a:rPr lang="en-US" sz="7476">
                <a:solidFill>
                  <a:srgbClr val="F9FCFC"/>
                </a:solidFill>
                <a:latin typeface="Black Ops One"/>
                <a:ea typeface="Black Ops One"/>
                <a:cs typeface="Black Ops One"/>
                <a:sym typeface="Black Ops One"/>
              </a:rPr>
              <a:t>HACK TO CRACK 2.O</a:t>
            </a:r>
          </a:p>
        </p:txBody>
      </p:sp>
      <p:grpSp>
        <p:nvGrpSpPr>
          <p:cNvPr id="7" name="Group 7"/>
          <p:cNvGrpSpPr/>
          <p:nvPr/>
        </p:nvGrpSpPr>
        <p:grpSpPr>
          <a:xfrm>
            <a:off x="6374582" y="8456253"/>
            <a:ext cx="6081856" cy="486730"/>
            <a:chOff x="0" y="0"/>
            <a:chExt cx="8109141" cy="648973"/>
          </a:xfrm>
        </p:grpSpPr>
        <p:sp>
          <p:nvSpPr>
            <p:cNvPr id="8" name="TextBox 8"/>
            <p:cNvSpPr txBox="1"/>
            <p:nvPr/>
          </p:nvSpPr>
          <p:spPr>
            <a:xfrm>
              <a:off x="0" y="-57150"/>
              <a:ext cx="8109141" cy="706123"/>
            </a:xfrm>
            <a:prstGeom prst="rect">
              <a:avLst/>
            </a:prstGeom>
          </p:spPr>
          <p:txBody>
            <a:bodyPr lIns="0" tIns="0" rIns="0" bIns="0" rtlCol="0" anchor="t">
              <a:spAutoFit/>
            </a:bodyPr>
            <a:lstStyle/>
            <a:p>
              <a:pPr algn="l">
                <a:lnSpc>
                  <a:spcPts val="4482"/>
                </a:lnSpc>
              </a:pPr>
              <a:r>
                <a:rPr lang="en-US" sz="3201" b="1">
                  <a:solidFill>
                    <a:srgbClr val="3AFAA4"/>
                  </a:solidFill>
                  <a:latin typeface="Montserrat Medium"/>
                  <a:ea typeface="Montserrat Medium"/>
                  <a:cs typeface="Montserrat Medium"/>
                  <a:sym typeface="Montserrat Medium"/>
                </a:rPr>
                <a:t>CODE .                 . CONQUER </a:t>
              </a:r>
            </a:p>
          </p:txBody>
        </p:sp>
        <p:sp>
          <p:nvSpPr>
            <p:cNvPr id="9" name="TextBox 9"/>
            <p:cNvSpPr txBox="1"/>
            <p:nvPr/>
          </p:nvSpPr>
          <p:spPr>
            <a:xfrm>
              <a:off x="2038972" y="-57150"/>
              <a:ext cx="5893881" cy="706123"/>
            </a:xfrm>
            <a:prstGeom prst="rect">
              <a:avLst/>
            </a:prstGeom>
          </p:spPr>
          <p:txBody>
            <a:bodyPr lIns="0" tIns="0" rIns="0" bIns="0" rtlCol="0" anchor="t">
              <a:spAutoFit/>
            </a:bodyPr>
            <a:lstStyle/>
            <a:p>
              <a:pPr algn="l">
                <a:lnSpc>
                  <a:spcPts val="4482"/>
                </a:lnSpc>
              </a:pPr>
              <a:r>
                <a:rPr lang="en-US" sz="3201" b="1">
                  <a:solidFill>
                    <a:srgbClr val="F9FCFC"/>
                  </a:solidFill>
                  <a:latin typeface="Montserrat Medium"/>
                  <a:ea typeface="Montserrat Medium"/>
                  <a:cs typeface="Montserrat Medium"/>
                  <a:sym typeface="Montserrat Medium"/>
                </a:rPr>
                <a:t>CREATE </a:t>
              </a:r>
            </a:p>
          </p:txBody>
        </p:sp>
      </p:grpSp>
      <p:sp>
        <p:nvSpPr>
          <p:cNvPr id="10" name="Freeform 10"/>
          <p:cNvSpPr/>
          <p:nvPr/>
        </p:nvSpPr>
        <p:spPr>
          <a:xfrm>
            <a:off x="15857640" y="167423"/>
            <a:ext cx="2143962" cy="1552712"/>
          </a:xfrm>
          <a:custGeom>
            <a:avLst/>
            <a:gdLst/>
            <a:ahLst/>
            <a:cxnLst/>
            <a:rect l="l" t="t" r="r" b="b"/>
            <a:pathLst>
              <a:path w="2143962" h="1552712">
                <a:moveTo>
                  <a:pt x="0" y="0"/>
                </a:moveTo>
                <a:lnTo>
                  <a:pt x="2143961" y="0"/>
                </a:lnTo>
                <a:lnTo>
                  <a:pt x="2143961" y="1552712"/>
                </a:lnTo>
                <a:lnTo>
                  <a:pt x="0" y="1552712"/>
                </a:lnTo>
                <a:lnTo>
                  <a:pt x="0" y="0"/>
                </a:lnTo>
                <a:close/>
              </a:path>
            </a:pathLst>
          </a:custGeom>
          <a:blipFill>
            <a:blip r:embed="rId4"/>
            <a:stretch>
              <a:fillRect t="-15233" b="-22844"/>
            </a:stretch>
          </a:blipFill>
        </p:spPr>
        <p:txBody>
          <a:bodyPr/>
          <a:lstStyle/>
          <a:p>
            <a:endParaRPr lang="en-IN"/>
          </a:p>
        </p:txBody>
      </p:sp>
      <p:sp>
        <p:nvSpPr>
          <p:cNvPr id="11" name="TextBox 11"/>
          <p:cNvSpPr txBox="1"/>
          <p:nvPr/>
        </p:nvSpPr>
        <p:spPr>
          <a:xfrm>
            <a:off x="2808446" y="1531223"/>
            <a:ext cx="12671108" cy="339724"/>
          </a:xfrm>
          <a:prstGeom prst="rect">
            <a:avLst/>
          </a:prstGeom>
        </p:spPr>
        <p:txBody>
          <a:bodyPr lIns="0" tIns="0" rIns="0" bIns="0" rtlCol="0" anchor="t">
            <a:spAutoFit/>
          </a:bodyPr>
          <a:lstStyle/>
          <a:p>
            <a:pPr algn="ctr">
              <a:lnSpc>
                <a:spcPts val="2800"/>
              </a:lnSpc>
            </a:pPr>
            <a:r>
              <a:rPr lang="en-US" sz="2000">
                <a:solidFill>
                  <a:srgbClr val="FFFFFF"/>
                </a:solidFill>
                <a:latin typeface="Libre Baskerville"/>
                <a:ea typeface="Libre Baskerville"/>
                <a:cs typeface="Libre Baskerville"/>
                <a:sym typeface="Libre Baskerville"/>
              </a:rPr>
              <a:t>(Affiliated to University of Mumbai/Approved by DTE/AICTE/NAAC at A+ Grade in 1st Cycle)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8072B"/>
        </a:solidFill>
        <a:effectLst/>
      </p:bgPr>
    </p:bg>
    <p:spTree>
      <p:nvGrpSpPr>
        <p:cNvPr id="1" name=""/>
        <p:cNvGrpSpPr/>
        <p:nvPr/>
      </p:nvGrpSpPr>
      <p:grpSpPr>
        <a:xfrm>
          <a:off x="0" y="0"/>
          <a:ext cx="0" cy="0"/>
          <a:chOff x="0" y="0"/>
          <a:chExt cx="0" cy="0"/>
        </a:xfrm>
      </p:grpSpPr>
      <p:sp>
        <p:nvSpPr>
          <p:cNvPr id="2" name="Freeform 2"/>
          <p:cNvSpPr/>
          <p:nvPr/>
        </p:nvSpPr>
        <p:spPr>
          <a:xfrm>
            <a:off x="17192315" y="612415"/>
            <a:ext cx="559181" cy="296366"/>
          </a:xfrm>
          <a:custGeom>
            <a:avLst/>
            <a:gdLst/>
            <a:ahLst/>
            <a:cxnLst/>
            <a:rect l="l" t="t" r="r" b="b"/>
            <a:pathLst>
              <a:path w="559181" h="296366">
                <a:moveTo>
                  <a:pt x="0" y="0"/>
                </a:moveTo>
                <a:lnTo>
                  <a:pt x="559181" y="0"/>
                </a:lnTo>
                <a:lnTo>
                  <a:pt x="559181" y="296366"/>
                </a:lnTo>
                <a:lnTo>
                  <a:pt x="0" y="296366"/>
                </a:lnTo>
                <a:lnTo>
                  <a:pt x="0" y="0"/>
                </a:lnTo>
                <a:close/>
              </a:path>
            </a:pathLst>
          </a:custGeom>
          <a:blipFill>
            <a:blip r:embed="rId2">
              <a:extLst>
                <a:ext uri="{96DAC541-7B7A-43D3-8B79-37D633B846F1}">
                  <asvg:svgBlip xmlns:asvg="http://schemas.microsoft.com/office/drawing/2016/SVG/main" r:embed="rId3"/>
                </a:ext>
              </a:extLst>
            </a:blip>
            <a:stretch>
              <a:fillRect t="-1167" b="-1167"/>
            </a:stretch>
          </a:blipFill>
        </p:spPr>
        <p:txBody>
          <a:bodyPr/>
          <a:lstStyle/>
          <a:p>
            <a:endParaRPr lang="en-IN"/>
          </a:p>
        </p:txBody>
      </p:sp>
      <p:sp>
        <p:nvSpPr>
          <p:cNvPr id="3" name="Freeform 3"/>
          <p:cNvSpPr/>
          <p:nvPr/>
        </p:nvSpPr>
        <p:spPr>
          <a:xfrm>
            <a:off x="422186" y="1326302"/>
            <a:ext cx="4394285" cy="123856"/>
          </a:xfrm>
          <a:custGeom>
            <a:avLst/>
            <a:gdLst/>
            <a:ahLst/>
            <a:cxnLst/>
            <a:rect l="l" t="t" r="r" b="b"/>
            <a:pathLst>
              <a:path w="6873872" h="162473">
                <a:moveTo>
                  <a:pt x="0" y="0"/>
                </a:moveTo>
                <a:lnTo>
                  <a:pt x="6873872" y="0"/>
                </a:lnTo>
                <a:lnTo>
                  <a:pt x="6873872" y="162473"/>
                </a:lnTo>
                <a:lnTo>
                  <a:pt x="0" y="162473"/>
                </a:lnTo>
                <a:lnTo>
                  <a:pt x="0" y="0"/>
                </a:lnTo>
                <a:close/>
              </a:path>
            </a:pathLst>
          </a:custGeom>
          <a:blipFill>
            <a:blip r:embed="rId4">
              <a:extLst>
                <a:ext uri="{96DAC541-7B7A-43D3-8B79-37D633B846F1}">
                  <asvg:svgBlip xmlns:asvg="http://schemas.microsoft.com/office/drawing/2016/SVG/main" r:embed="rId5"/>
                </a:ext>
              </a:extLst>
            </a:blip>
            <a:stretch>
              <a:fillRect t="-1455" b="-1455"/>
            </a:stretch>
          </a:blipFill>
        </p:spPr>
        <p:txBody>
          <a:bodyPr/>
          <a:lstStyle/>
          <a:p>
            <a:endParaRPr lang="en-IN"/>
          </a:p>
        </p:txBody>
      </p:sp>
      <p:sp>
        <p:nvSpPr>
          <p:cNvPr id="4" name="TextBox 4"/>
          <p:cNvSpPr txBox="1"/>
          <p:nvPr/>
        </p:nvSpPr>
        <p:spPr>
          <a:xfrm>
            <a:off x="422187" y="1995924"/>
            <a:ext cx="5762631" cy="1028700"/>
          </a:xfrm>
          <a:prstGeom prst="rect">
            <a:avLst/>
          </a:prstGeom>
        </p:spPr>
        <p:txBody>
          <a:bodyPr lIns="0" tIns="0" rIns="0" bIns="0" rtlCol="0" anchor="t">
            <a:spAutoFit/>
          </a:bodyPr>
          <a:lstStyle/>
          <a:p>
            <a:pPr algn="ctr">
              <a:lnSpc>
                <a:spcPts val="8400"/>
              </a:lnSpc>
            </a:pPr>
            <a:r>
              <a:rPr lang="en-US" sz="6000" b="1">
                <a:solidFill>
                  <a:srgbClr val="FFFFFF"/>
                </a:solidFill>
                <a:latin typeface="Montserrat Bold"/>
                <a:ea typeface="Montserrat Bold"/>
                <a:cs typeface="Montserrat Bold"/>
                <a:sym typeface="Montserrat Bold"/>
              </a:rPr>
              <a:t>Team Details</a:t>
            </a:r>
          </a:p>
        </p:txBody>
      </p:sp>
      <p:sp>
        <p:nvSpPr>
          <p:cNvPr id="5" name="Freeform 5"/>
          <p:cNvSpPr/>
          <p:nvPr/>
        </p:nvSpPr>
        <p:spPr>
          <a:xfrm rot="-10800000">
            <a:off x="5334000" y="1349723"/>
            <a:ext cx="5883071" cy="139054"/>
          </a:xfrm>
          <a:custGeom>
            <a:avLst/>
            <a:gdLst/>
            <a:ahLst/>
            <a:cxnLst/>
            <a:rect l="l" t="t" r="r" b="b"/>
            <a:pathLst>
              <a:path w="5883071" h="139054">
                <a:moveTo>
                  <a:pt x="0" y="0"/>
                </a:moveTo>
                <a:lnTo>
                  <a:pt x="5883071" y="0"/>
                </a:lnTo>
                <a:lnTo>
                  <a:pt x="5883071" y="139054"/>
                </a:lnTo>
                <a:lnTo>
                  <a:pt x="0" y="139054"/>
                </a:lnTo>
                <a:lnTo>
                  <a:pt x="0" y="0"/>
                </a:lnTo>
                <a:close/>
              </a:path>
            </a:pathLst>
          </a:custGeom>
          <a:blipFill>
            <a:blip r:embed="rId4">
              <a:extLst>
                <a:ext uri="{96DAC541-7B7A-43D3-8B79-37D633B846F1}">
                  <asvg:svgBlip xmlns:asvg="http://schemas.microsoft.com/office/drawing/2016/SVG/main" r:embed="rId5"/>
                </a:ext>
              </a:extLst>
            </a:blip>
            <a:stretch>
              <a:fillRect t="-127" b="-127"/>
            </a:stretch>
          </a:blipFill>
        </p:spPr>
        <p:txBody>
          <a:bodyPr/>
          <a:lstStyle/>
          <a:p>
            <a:endParaRPr lang="en-IN"/>
          </a:p>
        </p:txBody>
      </p:sp>
      <p:sp>
        <p:nvSpPr>
          <p:cNvPr id="6" name="Freeform 6"/>
          <p:cNvSpPr/>
          <p:nvPr/>
        </p:nvSpPr>
        <p:spPr>
          <a:xfrm rot="-10800000" flipH="1">
            <a:off x="11600866" y="1326303"/>
            <a:ext cx="5883071" cy="139054"/>
          </a:xfrm>
          <a:custGeom>
            <a:avLst/>
            <a:gdLst/>
            <a:ahLst/>
            <a:cxnLst/>
            <a:rect l="l" t="t" r="r" b="b"/>
            <a:pathLst>
              <a:path w="5883071" h="139054">
                <a:moveTo>
                  <a:pt x="5883071" y="0"/>
                </a:moveTo>
                <a:lnTo>
                  <a:pt x="0" y="0"/>
                </a:lnTo>
                <a:lnTo>
                  <a:pt x="0" y="139054"/>
                </a:lnTo>
                <a:lnTo>
                  <a:pt x="5883071" y="139054"/>
                </a:lnTo>
                <a:lnTo>
                  <a:pt x="5883071" y="0"/>
                </a:lnTo>
                <a:close/>
              </a:path>
            </a:pathLst>
          </a:custGeom>
          <a:blipFill>
            <a:blip r:embed="rId4">
              <a:extLst>
                <a:ext uri="{96DAC541-7B7A-43D3-8B79-37D633B846F1}">
                  <asvg:svgBlip xmlns:asvg="http://schemas.microsoft.com/office/drawing/2016/SVG/main" r:embed="rId5"/>
                </a:ext>
              </a:extLst>
            </a:blip>
            <a:stretch>
              <a:fillRect t="-127" b="-127"/>
            </a:stretch>
          </a:blipFill>
        </p:spPr>
        <p:txBody>
          <a:bodyPr/>
          <a:lstStyle/>
          <a:p>
            <a:endParaRPr lang="en-IN"/>
          </a:p>
        </p:txBody>
      </p:sp>
      <p:sp>
        <p:nvSpPr>
          <p:cNvPr id="7" name="TextBox 7"/>
          <p:cNvSpPr txBox="1"/>
          <p:nvPr/>
        </p:nvSpPr>
        <p:spPr>
          <a:xfrm>
            <a:off x="7512506" y="234054"/>
            <a:ext cx="950591" cy="950135"/>
          </a:xfrm>
          <a:prstGeom prst="rect">
            <a:avLst/>
          </a:prstGeom>
        </p:spPr>
        <p:txBody>
          <a:bodyPr lIns="0" tIns="0" rIns="0" bIns="0" rtlCol="0" anchor="t">
            <a:spAutoFit/>
          </a:bodyPr>
          <a:lstStyle/>
          <a:p>
            <a:pPr algn="ctr">
              <a:lnSpc>
                <a:spcPts val="6983"/>
              </a:lnSpc>
            </a:pPr>
            <a:r>
              <a:rPr lang="en-US" sz="4988" b="1">
                <a:solidFill>
                  <a:srgbClr val="18072B"/>
                </a:solidFill>
                <a:latin typeface="Canva Sans Bold"/>
                <a:ea typeface="Canva Sans Bold"/>
                <a:cs typeface="Canva Sans Bold"/>
                <a:sym typeface="Canva Sans Bold"/>
              </a:rPr>
              <a:t>1.0</a:t>
            </a:r>
          </a:p>
        </p:txBody>
      </p:sp>
      <p:sp>
        <p:nvSpPr>
          <p:cNvPr id="8" name="TextBox 8"/>
          <p:cNvSpPr txBox="1"/>
          <p:nvPr/>
        </p:nvSpPr>
        <p:spPr>
          <a:xfrm>
            <a:off x="485471" y="3552916"/>
            <a:ext cx="22174449" cy="4432175"/>
          </a:xfrm>
          <a:prstGeom prst="rect">
            <a:avLst/>
          </a:prstGeom>
        </p:spPr>
        <p:txBody>
          <a:bodyPr lIns="0" tIns="0" rIns="0" bIns="0" rtlCol="0" anchor="t">
            <a:spAutoFit/>
          </a:bodyPr>
          <a:lstStyle/>
          <a:p>
            <a:pPr marL="773747" lvl="2" indent="-257916" algn="just">
              <a:lnSpc>
                <a:spcPts val="7074"/>
              </a:lnSpc>
              <a:buFont typeface="Arial"/>
              <a:buChar char="⚬"/>
            </a:pPr>
            <a:r>
              <a:rPr lang="en-US" sz="3384" b="1" dirty="0">
                <a:solidFill>
                  <a:srgbClr val="FFFFFF"/>
                </a:solidFill>
                <a:latin typeface="Montserrat Bold"/>
                <a:ea typeface="Montserrat Bold"/>
                <a:cs typeface="Montserrat Bold"/>
                <a:sym typeface="Montserrat Bold"/>
              </a:rPr>
              <a:t>Team Name : </a:t>
            </a:r>
            <a:r>
              <a:rPr lang="en-US" sz="3384" b="1" dirty="0" err="1">
                <a:solidFill>
                  <a:srgbClr val="FFFFFF"/>
                </a:solidFill>
                <a:latin typeface="Montserrat Bold"/>
                <a:ea typeface="Montserrat Bold"/>
                <a:cs typeface="Montserrat Bold"/>
                <a:sym typeface="Montserrat Bold"/>
              </a:rPr>
              <a:t>FutureFounders</a:t>
            </a:r>
            <a:endParaRPr lang="en-US" sz="3384" b="1" dirty="0">
              <a:solidFill>
                <a:srgbClr val="FFFFFF"/>
              </a:solidFill>
              <a:latin typeface="Montserrat Bold"/>
              <a:ea typeface="Montserrat Bold"/>
              <a:cs typeface="Montserrat Bold"/>
              <a:sym typeface="Montserrat Bold"/>
            </a:endParaRPr>
          </a:p>
          <a:p>
            <a:pPr marL="773747" lvl="2" indent="-257916" algn="just">
              <a:lnSpc>
                <a:spcPts val="7074"/>
              </a:lnSpc>
              <a:buFont typeface="Arial"/>
              <a:buChar char="⚬"/>
            </a:pPr>
            <a:r>
              <a:rPr lang="en-US" sz="3384" b="1" dirty="0">
                <a:solidFill>
                  <a:srgbClr val="FFFFFF"/>
                </a:solidFill>
                <a:latin typeface="Montserrat Bold"/>
                <a:ea typeface="Montserrat Bold"/>
                <a:cs typeface="Montserrat Bold"/>
                <a:sym typeface="Montserrat Bold"/>
              </a:rPr>
              <a:t>Team Leader Name  : Jeel Doshi</a:t>
            </a:r>
          </a:p>
          <a:p>
            <a:pPr marL="773747" lvl="2" indent="-257916" algn="just">
              <a:lnSpc>
                <a:spcPts val="7074"/>
              </a:lnSpc>
              <a:buFont typeface="Arial"/>
              <a:buChar char="⚬"/>
            </a:pPr>
            <a:r>
              <a:rPr lang="en-US" sz="3384" b="1" dirty="0">
                <a:solidFill>
                  <a:srgbClr val="FFFFFF"/>
                </a:solidFill>
                <a:latin typeface="Montserrat Bold"/>
                <a:ea typeface="Montserrat Bold"/>
                <a:cs typeface="Montserrat Bold"/>
                <a:sym typeface="Montserrat Bold"/>
              </a:rPr>
              <a:t>Team Members : </a:t>
            </a:r>
            <a:r>
              <a:rPr lang="en-US" sz="3384" b="1" dirty="0" err="1">
                <a:solidFill>
                  <a:srgbClr val="FFFFFF"/>
                </a:solidFill>
                <a:latin typeface="Montserrat Bold"/>
                <a:ea typeface="Montserrat Bold"/>
                <a:cs typeface="Montserrat Bold"/>
                <a:sym typeface="Montserrat Bold"/>
              </a:rPr>
              <a:t>Vatsal</a:t>
            </a:r>
            <a:r>
              <a:rPr lang="en-US" sz="3384" b="1" dirty="0">
                <a:solidFill>
                  <a:srgbClr val="FFFFFF"/>
                </a:solidFill>
                <a:latin typeface="Montserrat Bold"/>
                <a:ea typeface="Montserrat Bold"/>
                <a:cs typeface="Montserrat Bold"/>
                <a:sym typeface="Montserrat Bold"/>
              </a:rPr>
              <a:t> Kotha, Meet Chavan</a:t>
            </a:r>
          </a:p>
          <a:p>
            <a:pPr marL="773747" lvl="2" indent="-257916" algn="just">
              <a:lnSpc>
                <a:spcPts val="7074"/>
              </a:lnSpc>
              <a:buFont typeface="Arial"/>
              <a:buChar char="⚬"/>
            </a:pPr>
            <a:r>
              <a:rPr lang="en-US" sz="3384" b="1" dirty="0">
                <a:solidFill>
                  <a:srgbClr val="FFFFFF"/>
                </a:solidFill>
                <a:latin typeface="Montserrat Bold"/>
                <a:ea typeface="Montserrat Bold"/>
                <a:cs typeface="Montserrat Bold"/>
                <a:sym typeface="Montserrat Bold"/>
              </a:rPr>
              <a:t>Problem Statement : Student Innovation</a:t>
            </a:r>
          </a:p>
          <a:p>
            <a:pPr marL="773747" lvl="2" indent="-257916" algn="just">
              <a:lnSpc>
                <a:spcPts val="7074"/>
              </a:lnSpc>
              <a:buFont typeface="Arial"/>
              <a:buChar char="⚬"/>
            </a:pPr>
            <a:r>
              <a:rPr lang="en-US" sz="3384" b="1" dirty="0">
                <a:solidFill>
                  <a:srgbClr val="FFFFFF"/>
                </a:solidFill>
                <a:latin typeface="Montserrat Bold"/>
                <a:ea typeface="Montserrat Bold"/>
                <a:cs typeface="Montserrat Bold"/>
                <a:sym typeface="Montserrat Bold"/>
              </a:rPr>
              <a:t>PS No: Student Innovation</a:t>
            </a:r>
          </a:p>
        </p:txBody>
      </p:sp>
      <p:sp>
        <p:nvSpPr>
          <p:cNvPr id="9" name="Freeform 9"/>
          <p:cNvSpPr/>
          <p:nvPr/>
        </p:nvSpPr>
        <p:spPr>
          <a:xfrm>
            <a:off x="485471" y="225014"/>
            <a:ext cx="1086457" cy="1071168"/>
          </a:xfrm>
          <a:custGeom>
            <a:avLst/>
            <a:gdLst/>
            <a:ahLst/>
            <a:cxnLst/>
            <a:rect l="l" t="t" r="r" b="b"/>
            <a:pathLst>
              <a:path w="1086457" h="1071168">
                <a:moveTo>
                  <a:pt x="0" y="0"/>
                </a:moveTo>
                <a:lnTo>
                  <a:pt x="1086458" y="0"/>
                </a:lnTo>
                <a:lnTo>
                  <a:pt x="1086458" y="1071168"/>
                </a:lnTo>
                <a:lnTo>
                  <a:pt x="0" y="1071168"/>
                </a:lnTo>
                <a:lnTo>
                  <a:pt x="0" y="0"/>
                </a:lnTo>
                <a:close/>
              </a:path>
            </a:pathLst>
          </a:custGeom>
          <a:blipFill>
            <a:blip r:embed="rId6">
              <a:alphaModFix amt="81000"/>
            </a:blip>
            <a:stretch>
              <a:fillRect l="-48742" t="-27997" r="-43252" b="-66737"/>
            </a:stretch>
          </a:blipFill>
        </p:spPr>
        <p:txBody>
          <a:bodyPr/>
          <a:lstStyle/>
          <a:p>
            <a:endParaRPr lang="en-IN"/>
          </a:p>
        </p:txBody>
      </p:sp>
      <p:sp>
        <p:nvSpPr>
          <p:cNvPr id="10" name="TextBox 10"/>
          <p:cNvSpPr txBox="1"/>
          <p:nvPr/>
        </p:nvSpPr>
        <p:spPr>
          <a:xfrm>
            <a:off x="1913110" y="234054"/>
            <a:ext cx="7688090" cy="891334"/>
          </a:xfrm>
          <a:prstGeom prst="rect">
            <a:avLst/>
          </a:prstGeom>
        </p:spPr>
        <p:txBody>
          <a:bodyPr wrap="square" lIns="0" tIns="0" rIns="0" bIns="0" rtlCol="0" anchor="t">
            <a:spAutoFit/>
          </a:bodyPr>
          <a:lstStyle/>
          <a:p>
            <a:pPr algn="l">
              <a:lnSpc>
                <a:spcPts val="7235"/>
              </a:lnSpc>
            </a:pPr>
            <a:r>
              <a:rPr lang="en-US" sz="5168" dirty="0">
                <a:solidFill>
                  <a:srgbClr val="F9FCFC"/>
                </a:solidFill>
                <a:latin typeface="Black Ops One"/>
                <a:ea typeface="Black Ops One"/>
                <a:cs typeface="Black Ops One"/>
                <a:sym typeface="Black Ops One"/>
              </a:rPr>
              <a:t>HACK TO CRACK 2.O</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8072B"/>
        </a:solidFill>
        <a:effectLst/>
      </p:bgPr>
    </p:bg>
    <p:spTree>
      <p:nvGrpSpPr>
        <p:cNvPr id="1" name=""/>
        <p:cNvGrpSpPr/>
        <p:nvPr/>
      </p:nvGrpSpPr>
      <p:grpSpPr>
        <a:xfrm>
          <a:off x="0" y="0"/>
          <a:ext cx="0" cy="0"/>
          <a:chOff x="0" y="0"/>
          <a:chExt cx="0" cy="0"/>
        </a:xfrm>
      </p:grpSpPr>
      <p:sp>
        <p:nvSpPr>
          <p:cNvPr id="2" name="Freeform 2"/>
          <p:cNvSpPr/>
          <p:nvPr/>
        </p:nvSpPr>
        <p:spPr>
          <a:xfrm>
            <a:off x="17192315" y="612415"/>
            <a:ext cx="559181" cy="296366"/>
          </a:xfrm>
          <a:custGeom>
            <a:avLst/>
            <a:gdLst/>
            <a:ahLst/>
            <a:cxnLst/>
            <a:rect l="l" t="t" r="r" b="b"/>
            <a:pathLst>
              <a:path w="559181" h="296366">
                <a:moveTo>
                  <a:pt x="0" y="0"/>
                </a:moveTo>
                <a:lnTo>
                  <a:pt x="559181" y="0"/>
                </a:lnTo>
                <a:lnTo>
                  <a:pt x="559181" y="296366"/>
                </a:lnTo>
                <a:lnTo>
                  <a:pt x="0" y="296366"/>
                </a:lnTo>
                <a:lnTo>
                  <a:pt x="0" y="0"/>
                </a:lnTo>
                <a:close/>
              </a:path>
            </a:pathLst>
          </a:custGeom>
          <a:blipFill>
            <a:blip r:embed="rId2">
              <a:extLst>
                <a:ext uri="{96DAC541-7B7A-43D3-8B79-37D633B846F1}">
                  <asvg:svgBlip xmlns:asvg="http://schemas.microsoft.com/office/drawing/2016/SVG/main" r:embed="rId3"/>
                </a:ext>
              </a:extLst>
            </a:blip>
            <a:stretch>
              <a:fillRect t="-1167" b="-1167"/>
            </a:stretch>
          </a:blipFill>
        </p:spPr>
        <p:txBody>
          <a:bodyPr/>
          <a:lstStyle/>
          <a:p>
            <a:endParaRPr lang="en-IN"/>
          </a:p>
        </p:txBody>
      </p:sp>
      <p:sp>
        <p:nvSpPr>
          <p:cNvPr id="3" name="Freeform 3"/>
          <p:cNvSpPr/>
          <p:nvPr/>
        </p:nvSpPr>
        <p:spPr>
          <a:xfrm>
            <a:off x="-3014749" y="1326304"/>
            <a:ext cx="6873872" cy="162473"/>
          </a:xfrm>
          <a:custGeom>
            <a:avLst/>
            <a:gdLst/>
            <a:ahLst/>
            <a:cxnLst/>
            <a:rect l="l" t="t" r="r" b="b"/>
            <a:pathLst>
              <a:path w="6873872" h="162473">
                <a:moveTo>
                  <a:pt x="0" y="0"/>
                </a:moveTo>
                <a:lnTo>
                  <a:pt x="6873872" y="0"/>
                </a:lnTo>
                <a:lnTo>
                  <a:pt x="6873872" y="162473"/>
                </a:lnTo>
                <a:lnTo>
                  <a:pt x="0" y="162473"/>
                </a:lnTo>
                <a:lnTo>
                  <a:pt x="0" y="0"/>
                </a:lnTo>
                <a:close/>
              </a:path>
            </a:pathLst>
          </a:custGeom>
          <a:blipFill>
            <a:blip r:embed="rId4">
              <a:extLst>
                <a:ext uri="{96DAC541-7B7A-43D3-8B79-37D633B846F1}">
                  <asvg:svgBlip xmlns:asvg="http://schemas.microsoft.com/office/drawing/2016/SVG/main" r:embed="rId5"/>
                </a:ext>
              </a:extLst>
            </a:blip>
            <a:stretch>
              <a:fillRect t="-1455" b="-1455"/>
            </a:stretch>
          </a:blipFill>
        </p:spPr>
        <p:txBody>
          <a:bodyPr/>
          <a:lstStyle/>
          <a:p>
            <a:endParaRPr lang="en-IN"/>
          </a:p>
        </p:txBody>
      </p:sp>
      <p:sp>
        <p:nvSpPr>
          <p:cNvPr id="4" name="TextBox 4"/>
          <p:cNvSpPr txBox="1"/>
          <p:nvPr/>
        </p:nvSpPr>
        <p:spPr>
          <a:xfrm>
            <a:off x="-322721" y="1515219"/>
            <a:ext cx="15003704" cy="1028650"/>
          </a:xfrm>
          <a:prstGeom prst="rect">
            <a:avLst/>
          </a:prstGeom>
        </p:spPr>
        <p:txBody>
          <a:bodyPr lIns="0" tIns="0" rIns="0" bIns="0" rtlCol="0" anchor="t">
            <a:spAutoFit/>
          </a:bodyPr>
          <a:lstStyle/>
          <a:p>
            <a:pPr algn="ctr">
              <a:lnSpc>
                <a:spcPts val="8400"/>
              </a:lnSpc>
            </a:pPr>
            <a:r>
              <a:rPr lang="en-US" sz="6000" b="1" dirty="0">
                <a:solidFill>
                  <a:srgbClr val="FFFFFF"/>
                </a:solidFill>
                <a:latin typeface="Montserrat Bold"/>
                <a:ea typeface="Montserrat Bold"/>
                <a:cs typeface="Montserrat Bold"/>
                <a:sym typeface="Montserrat Bold"/>
              </a:rPr>
              <a:t>Problem Statement  Description</a:t>
            </a:r>
          </a:p>
        </p:txBody>
      </p:sp>
      <p:sp>
        <p:nvSpPr>
          <p:cNvPr id="5" name="Freeform 5"/>
          <p:cNvSpPr/>
          <p:nvPr/>
        </p:nvSpPr>
        <p:spPr>
          <a:xfrm rot="-10800000">
            <a:off x="4237596" y="1326304"/>
            <a:ext cx="5883071" cy="139054"/>
          </a:xfrm>
          <a:custGeom>
            <a:avLst/>
            <a:gdLst/>
            <a:ahLst/>
            <a:cxnLst/>
            <a:rect l="l" t="t" r="r" b="b"/>
            <a:pathLst>
              <a:path w="5883071" h="139054">
                <a:moveTo>
                  <a:pt x="0" y="0"/>
                </a:moveTo>
                <a:lnTo>
                  <a:pt x="5883071" y="0"/>
                </a:lnTo>
                <a:lnTo>
                  <a:pt x="5883071" y="139054"/>
                </a:lnTo>
                <a:lnTo>
                  <a:pt x="0" y="139054"/>
                </a:lnTo>
                <a:lnTo>
                  <a:pt x="0" y="0"/>
                </a:lnTo>
                <a:close/>
              </a:path>
            </a:pathLst>
          </a:custGeom>
          <a:blipFill>
            <a:blip r:embed="rId4">
              <a:extLst>
                <a:ext uri="{96DAC541-7B7A-43D3-8B79-37D633B846F1}">
                  <asvg:svgBlip xmlns:asvg="http://schemas.microsoft.com/office/drawing/2016/SVG/main" r:embed="rId5"/>
                </a:ext>
              </a:extLst>
            </a:blip>
            <a:stretch>
              <a:fillRect t="-127" b="-127"/>
            </a:stretch>
          </a:blipFill>
        </p:spPr>
        <p:txBody>
          <a:bodyPr/>
          <a:lstStyle/>
          <a:p>
            <a:endParaRPr lang="en-IN"/>
          </a:p>
        </p:txBody>
      </p:sp>
      <p:sp>
        <p:nvSpPr>
          <p:cNvPr id="6" name="TextBox 6"/>
          <p:cNvSpPr txBox="1"/>
          <p:nvPr/>
        </p:nvSpPr>
        <p:spPr>
          <a:xfrm>
            <a:off x="2756506" y="-762946"/>
            <a:ext cx="4686993" cy="950135"/>
          </a:xfrm>
          <a:prstGeom prst="rect">
            <a:avLst/>
          </a:prstGeom>
        </p:spPr>
        <p:txBody>
          <a:bodyPr lIns="0" tIns="0" rIns="0" bIns="0" rtlCol="0" anchor="t">
            <a:spAutoFit/>
          </a:bodyPr>
          <a:lstStyle/>
          <a:p>
            <a:pPr algn="ctr">
              <a:lnSpc>
                <a:spcPts val="6983"/>
              </a:lnSpc>
            </a:pPr>
            <a:r>
              <a:rPr lang="en-US" sz="4988" b="1">
                <a:solidFill>
                  <a:srgbClr val="18072B"/>
                </a:solidFill>
                <a:latin typeface="Canva Sans Bold"/>
                <a:ea typeface="Canva Sans Bold"/>
                <a:cs typeface="Canva Sans Bold"/>
                <a:sym typeface="Canva Sans Bold"/>
              </a:rPr>
              <a:t>Hack To Crack  </a:t>
            </a:r>
          </a:p>
        </p:txBody>
      </p:sp>
      <p:sp>
        <p:nvSpPr>
          <p:cNvPr id="7" name="Freeform 7"/>
          <p:cNvSpPr/>
          <p:nvPr/>
        </p:nvSpPr>
        <p:spPr>
          <a:xfrm rot="-10800000" flipH="1">
            <a:off x="10501667" y="1349722"/>
            <a:ext cx="5883071" cy="139054"/>
          </a:xfrm>
          <a:custGeom>
            <a:avLst/>
            <a:gdLst/>
            <a:ahLst/>
            <a:cxnLst/>
            <a:rect l="l" t="t" r="r" b="b"/>
            <a:pathLst>
              <a:path w="5883071" h="139054">
                <a:moveTo>
                  <a:pt x="5883071" y="0"/>
                </a:moveTo>
                <a:lnTo>
                  <a:pt x="0" y="0"/>
                </a:lnTo>
                <a:lnTo>
                  <a:pt x="0" y="139054"/>
                </a:lnTo>
                <a:lnTo>
                  <a:pt x="5883071" y="139054"/>
                </a:lnTo>
                <a:lnTo>
                  <a:pt x="5883071" y="0"/>
                </a:lnTo>
                <a:close/>
              </a:path>
            </a:pathLst>
          </a:custGeom>
          <a:blipFill>
            <a:blip r:embed="rId4">
              <a:extLst>
                <a:ext uri="{96DAC541-7B7A-43D3-8B79-37D633B846F1}">
                  <asvg:svgBlip xmlns:asvg="http://schemas.microsoft.com/office/drawing/2016/SVG/main" r:embed="rId5"/>
                </a:ext>
              </a:extLst>
            </a:blip>
            <a:stretch>
              <a:fillRect t="-127" b="-127"/>
            </a:stretch>
          </a:blipFill>
        </p:spPr>
        <p:txBody>
          <a:bodyPr/>
          <a:lstStyle/>
          <a:p>
            <a:endParaRPr lang="en-IN"/>
          </a:p>
        </p:txBody>
      </p:sp>
      <p:sp>
        <p:nvSpPr>
          <p:cNvPr id="8" name="Freeform 8"/>
          <p:cNvSpPr/>
          <p:nvPr/>
        </p:nvSpPr>
        <p:spPr>
          <a:xfrm>
            <a:off x="493060" y="187189"/>
            <a:ext cx="1155374" cy="1139115"/>
          </a:xfrm>
          <a:custGeom>
            <a:avLst/>
            <a:gdLst/>
            <a:ahLst/>
            <a:cxnLst/>
            <a:rect l="l" t="t" r="r" b="b"/>
            <a:pathLst>
              <a:path w="1155374" h="1139115">
                <a:moveTo>
                  <a:pt x="0" y="0"/>
                </a:moveTo>
                <a:lnTo>
                  <a:pt x="1155374" y="0"/>
                </a:lnTo>
                <a:lnTo>
                  <a:pt x="1155374" y="1139115"/>
                </a:lnTo>
                <a:lnTo>
                  <a:pt x="0" y="1139115"/>
                </a:lnTo>
                <a:lnTo>
                  <a:pt x="0" y="0"/>
                </a:lnTo>
                <a:close/>
              </a:path>
            </a:pathLst>
          </a:custGeom>
          <a:blipFill>
            <a:blip r:embed="rId6">
              <a:alphaModFix amt="81000"/>
            </a:blip>
            <a:stretch>
              <a:fillRect l="-48742" t="-27997" r="-43252" b="-66737"/>
            </a:stretch>
          </a:blipFill>
        </p:spPr>
        <p:txBody>
          <a:bodyPr/>
          <a:lstStyle/>
          <a:p>
            <a:endParaRPr lang="en-IN"/>
          </a:p>
        </p:txBody>
      </p:sp>
      <p:sp>
        <p:nvSpPr>
          <p:cNvPr id="9" name="TextBox 9"/>
          <p:cNvSpPr txBox="1"/>
          <p:nvPr/>
        </p:nvSpPr>
        <p:spPr>
          <a:xfrm>
            <a:off x="1913110" y="234054"/>
            <a:ext cx="8588557" cy="891334"/>
          </a:xfrm>
          <a:prstGeom prst="rect">
            <a:avLst/>
          </a:prstGeom>
        </p:spPr>
        <p:txBody>
          <a:bodyPr wrap="square" lIns="0" tIns="0" rIns="0" bIns="0" rtlCol="0" anchor="t">
            <a:spAutoFit/>
          </a:bodyPr>
          <a:lstStyle/>
          <a:p>
            <a:pPr algn="l">
              <a:lnSpc>
                <a:spcPts val="7235"/>
              </a:lnSpc>
            </a:pPr>
            <a:r>
              <a:rPr lang="en-US" sz="5168" dirty="0">
                <a:solidFill>
                  <a:srgbClr val="F9FCFC"/>
                </a:solidFill>
                <a:latin typeface="Black Ops One"/>
                <a:ea typeface="Black Ops One"/>
                <a:cs typeface="Black Ops One"/>
                <a:sym typeface="Black Ops One"/>
              </a:rPr>
              <a:t>HACK TO CRACK 2.O</a:t>
            </a:r>
          </a:p>
        </p:txBody>
      </p:sp>
      <p:sp>
        <p:nvSpPr>
          <p:cNvPr id="13" name="TextBox 12">
            <a:extLst>
              <a:ext uri="{FF2B5EF4-FFF2-40B4-BE49-F238E27FC236}">
                <a16:creationId xmlns:a16="http://schemas.microsoft.com/office/drawing/2014/main" id="{B8BED8A4-1948-AD55-822F-FC3C5093EA16}"/>
              </a:ext>
            </a:extLst>
          </p:cNvPr>
          <p:cNvSpPr txBox="1"/>
          <p:nvPr/>
        </p:nvSpPr>
        <p:spPr>
          <a:xfrm>
            <a:off x="609600" y="2627892"/>
            <a:ext cx="16687800" cy="7294305"/>
          </a:xfrm>
          <a:prstGeom prst="rect">
            <a:avLst/>
          </a:prstGeom>
          <a:noFill/>
        </p:spPr>
        <p:txBody>
          <a:bodyPr wrap="square">
            <a:spAutoFit/>
          </a:bodyPr>
          <a:lstStyle/>
          <a:p>
            <a:pPr algn="just"/>
            <a:r>
              <a:rPr lang="en-US" sz="2600" dirty="0">
                <a:solidFill>
                  <a:schemeClr val="bg1"/>
                </a:solidFill>
                <a:latin typeface="Montserrat Bold" panose="020B0604020202020204" charset="0"/>
              </a:rPr>
              <a:t>In today’s rapidly evolving market landscape, entrepreneurs and innovators face significant challenges in accurately assessing the potential of their groundbreaking ideas. Despite the abundance of creativity, many promising concepts lack the rigorous validation needed to predict market success. Traditional evaluation methods often fall short by relying on subjective judgment and limited data insights, leading to high risks and missed opportunities.</a:t>
            </a:r>
          </a:p>
          <a:p>
            <a:pPr algn="just"/>
            <a:r>
              <a:rPr lang="en-US" sz="2600" dirty="0">
                <a:solidFill>
                  <a:schemeClr val="bg1"/>
                </a:solidFill>
                <a:latin typeface="Montserrat Bold" panose="020B0604020202020204" charset="0"/>
              </a:rPr>
              <a:t>Moreover, with increasing awareness of ethical and sustainability concerns, there is a growing need to ensure that innovations not only succeed commercially but also adhere to responsible practices. The absence of a systematic, data-driven approach leaves innovators without clear, actionable guidance on refining their ideas to align with current market trends and ethical standards.</a:t>
            </a:r>
          </a:p>
          <a:p>
            <a:pPr algn="just"/>
            <a:r>
              <a:rPr lang="en-US" sz="2600" dirty="0">
                <a:solidFill>
                  <a:schemeClr val="bg1"/>
                </a:solidFill>
                <a:latin typeface="Montserrat Bold" panose="020B0604020202020204" charset="0"/>
              </a:rPr>
              <a:t>“</a:t>
            </a:r>
            <a:r>
              <a:rPr lang="en-US" sz="2600" dirty="0" err="1">
                <a:solidFill>
                  <a:schemeClr val="bg1"/>
                </a:solidFill>
                <a:latin typeface="Montserrat Bold" panose="020B0604020202020204" charset="0"/>
              </a:rPr>
              <a:t>Innovise</a:t>
            </a:r>
            <a:r>
              <a:rPr lang="en-US" sz="2600" dirty="0">
                <a:solidFill>
                  <a:schemeClr val="bg1"/>
                </a:solidFill>
                <a:latin typeface="Montserrat Bold" panose="020B0604020202020204" charset="0"/>
              </a:rPr>
              <a:t>” is designed to address these challenges by leveraging advanced Artificial Intelligence to provide:</a:t>
            </a:r>
          </a:p>
          <a:p>
            <a:pPr lvl="1" algn="just">
              <a:buFont typeface="Arial" panose="020B0604020202020204" pitchFamily="34" charset="0"/>
              <a:buChar char="•"/>
            </a:pPr>
            <a:r>
              <a:rPr lang="en-US" sz="2600" b="1" dirty="0">
                <a:solidFill>
                  <a:schemeClr val="bg1"/>
                </a:solidFill>
                <a:latin typeface="Montserrat Bold" panose="020B0604020202020204" charset="0"/>
              </a:rPr>
              <a:t>Accurate Success Predictions:</a:t>
            </a:r>
            <a:r>
              <a:rPr lang="en-US" sz="2600" dirty="0">
                <a:solidFill>
                  <a:schemeClr val="bg1"/>
                </a:solidFill>
                <a:latin typeface="Montserrat Bold" panose="020B0604020202020204" charset="0"/>
              </a:rPr>
              <a:t> Utilizing robust data analysis to forecast the market potential of business ideas with high precision.</a:t>
            </a:r>
          </a:p>
          <a:p>
            <a:pPr lvl="1" algn="just">
              <a:buFont typeface="Arial" panose="020B0604020202020204" pitchFamily="34" charset="0"/>
              <a:buChar char="•"/>
            </a:pPr>
            <a:r>
              <a:rPr lang="en-US" sz="2600" b="1" dirty="0">
                <a:solidFill>
                  <a:schemeClr val="bg1"/>
                </a:solidFill>
                <a:latin typeface="Montserrat Bold" panose="020B0604020202020204" charset="0"/>
              </a:rPr>
              <a:t>Ethical Integration:</a:t>
            </a:r>
            <a:r>
              <a:rPr lang="en-US" sz="2600" dirty="0">
                <a:solidFill>
                  <a:schemeClr val="bg1"/>
                </a:solidFill>
                <a:latin typeface="Montserrat Bold" panose="020B0604020202020204" charset="0"/>
              </a:rPr>
              <a:t> Embedding ethical considerations into the evaluation process to promote responsible and sustainable innovation.</a:t>
            </a:r>
          </a:p>
          <a:p>
            <a:pPr lvl="1" algn="just">
              <a:buFont typeface="Arial" panose="020B0604020202020204" pitchFamily="34" charset="0"/>
              <a:buChar char="•"/>
            </a:pPr>
            <a:r>
              <a:rPr lang="en-US" sz="2600" b="1" dirty="0">
                <a:solidFill>
                  <a:schemeClr val="bg1"/>
                </a:solidFill>
                <a:latin typeface="Montserrat Bold" panose="020B0604020202020204" charset="0"/>
              </a:rPr>
              <a:t>Actionable Insights:</a:t>
            </a:r>
            <a:r>
              <a:rPr lang="en-US" sz="2600" dirty="0">
                <a:solidFill>
                  <a:schemeClr val="bg1"/>
                </a:solidFill>
                <a:latin typeface="Montserrat Bold" panose="020B0604020202020204" charset="0"/>
              </a:rPr>
              <a:t> Delivering clear recommendations that empower innovators to make informed, strategic decisions.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8072B"/>
        </a:solidFill>
        <a:effectLst/>
      </p:bgPr>
    </p:bg>
    <p:spTree>
      <p:nvGrpSpPr>
        <p:cNvPr id="1" name=""/>
        <p:cNvGrpSpPr/>
        <p:nvPr/>
      </p:nvGrpSpPr>
      <p:grpSpPr>
        <a:xfrm>
          <a:off x="0" y="0"/>
          <a:ext cx="0" cy="0"/>
          <a:chOff x="0" y="0"/>
          <a:chExt cx="0" cy="0"/>
        </a:xfrm>
      </p:grpSpPr>
      <p:sp>
        <p:nvSpPr>
          <p:cNvPr id="2" name="Freeform 2"/>
          <p:cNvSpPr/>
          <p:nvPr/>
        </p:nvSpPr>
        <p:spPr>
          <a:xfrm>
            <a:off x="17192315" y="612415"/>
            <a:ext cx="559181" cy="296366"/>
          </a:xfrm>
          <a:custGeom>
            <a:avLst/>
            <a:gdLst/>
            <a:ahLst/>
            <a:cxnLst/>
            <a:rect l="l" t="t" r="r" b="b"/>
            <a:pathLst>
              <a:path w="559181" h="296366">
                <a:moveTo>
                  <a:pt x="0" y="0"/>
                </a:moveTo>
                <a:lnTo>
                  <a:pt x="559181" y="0"/>
                </a:lnTo>
                <a:lnTo>
                  <a:pt x="559181" y="296366"/>
                </a:lnTo>
                <a:lnTo>
                  <a:pt x="0" y="296366"/>
                </a:lnTo>
                <a:lnTo>
                  <a:pt x="0" y="0"/>
                </a:lnTo>
                <a:close/>
              </a:path>
            </a:pathLst>
          </a:custGeom>
          <a:blipFill>
            <a:blip r:embed="rId3">
              <a:extLst>
                <a:ext uri="{96DAC541-7B7A-43D3-8B79-37D633B846F1}">
                  <asvg:svgBlip xmlns:asvg="http://schemas.microsoft.com/office/drawing/2016/SVG/main" r:embed="rId4"/>
                </a:ext>
              </a:extLst>
            </a:blip>
            <a:stretch>
              <a:fillRect t="-1167" b="-1167"/>
            </a:stretch>
          </a:blipFill>
        </p:spPr>
        <p:txBody>
          <a:bodyPr/>
          <a:lstStyle/>
          <a:p>
            <a:endParaRPr lang="en-IN"/>
          </a:p>
        </p:txBody>
      </p:sp>
      <p:sp>
        <p:nvSpPr>
          <p:cNvPr id="3" name="Freeform 3"/>
          <p:cNvSpPr/>
          <p:nvPr/>
        </p:nvSpPr>
        <p:spPr>
          <a:xfrm>
            <a:off x="-3014749" y="1326304"/>
            <a:ext cx="6873872" cy="162473"/>
          </a:xfrm>
          <a:custGeom>
            <a:avLst/>
            <a:gdLst/>
            <a:ahLst/>
            <a:cxnLst/>
            <a:rect l="l" t="t" r="r" b="b"/>
            <a:pathLst>
              <a:path w="6873872" h="162473">
                <a:moveTo>
                  <a:pt x="0" y="0"/>
                </a:moveTo>
                <a:lnTo>
                  <a:pt x="6873872" y="0"/>
                </a:lnTo>
                <a:lnTo>
                  <a:pt x="6873872" y="162473"/>
                </a:lnTo>
                <a:lnTo>
                  <a:pt x="0" y="162473"/>
                </a:lnTo>
                <a:lnTo>
                  <a:pt x="0" y="0"/>
                </a:lnTo>
                <a:close/>
              </a:path>
            </a:pathLst>
          </a:custGeom>
          <a:blipFill>
            <a:blip r:embed="rId5">
              <a:extLst>
                <a:ext uri="{96DAC541-7B7A-43D3-8B79-37D633B846F1}">
                  <asvg:svgBlip xmlns:asvg="http://schemas.microsoft.com/office/drawing/2016/SVG/main" r:embed="rId6"/>
                </a:ext>
              </a:extLst>
            </a:blip>
            <a:stretch>
              <a:fillRect t="-1455" b="-1455"/>
            </a:stretch>
          </a:blipFill>
        </p:spPr>
        <p:txBody>
          <a:bodyPr/>
          <a:lstStyle/>
          <a:p>
            <a:endParaRPr lang="en-IN"/>
          </a:p>
        </p:txBody>
      </p:sp>
      <p:sp>
        <p:nvSpPr>
          <p:cNvPr id="4" name="Freeform 4"/>
          <p:cNvSpPr/>
          <p:nvPr/>
        </p:nvSpPr>
        <p:spPr>
          <a:xfrm rot="-10800000">
            <a:off x="4237596" y="1326304"/>
            <a:ext cx="5883071" cy="139054"/>
          </a:xfrm>
          <a:custGeom>
            <a:avLst/>
            <a:gdLst/>
            <a:ahLst/>
            <a:cxnLst/>
            <a:rect l="l" t="t" r="r" b="b"/>
            <a:pathLst>
              <a:path w="5883071" h="139054">
                <a:moveTo>
                  <a:pt x="0" y="0"/>
                </a:moveTo>
                <a:lnTo>
                  <a:pt x="5883071" y="0"/>
                </a:lnTo>
                <a:lnTo>
                  <a:pt x="5883071" y="139054"/>
                </a:lnTo>
                <a:lnTo>
                  <a:pt x="0" y="139054"/>
                </a:lnTo>
                <a:lnTo>
                  <a:pt x="0" y="0"/>
                </a:lnTo>
                <a:close/>
              </a:path>
            </a:pathLst>
          </a:custGeom>
          <a:blipFill>
            <a:blip r:embed="rId5">
              <a:extLst>
                <a:ext uri="{96DAC541-7B7A-43D3-8B79-37D633B846F1}">
                  <asvg:svgBlip xmlns:asvg="http://schemas.microsoft.com/office/drawing/2016/SVG/main" r:embed="rId6"/>
                </a:ext>
              </a:extLst>
            </a:blip>
            <a:stretch>
              <a:fillRect t="-127" b="-127"/>
            </a:stretch>
          </a:blipFill>
        </p:spPr>
        <p:txBody>
          <a:bodyPr/>
          <a:lstStyle/>
          <a:p>
            <a:endParaRPr lang="en-IN"/>
          </a:p>
        </p:txBody>
      </p:sp>
      <p:sp>
        <p:nvSpPr>
          <p:cNvPr id="5" name="Freeform 5"/>
          <p:cNvSpPr/>
          <p:nvPr/>
        </p:nvSpPr>
        <p:spPr>
          <a:xfrm rot="-10800000" flipH="1">
            <a:off x="10501667" y="1349722"/>
            <a:ext cx="5883071" cy="139054"/>
          </a:xfrm>
          <a:custGeom>
            <a:avLst/>
            <a:gdLst/>
            <a:ahLst/>
            <a:cxnLst/>
            <a:rect l="l" t="t" r="r" b="b"/>
            <a:pathLst>
              <a:path w="5883071" h="139054">
                <a:moveTo>
                  <a:pt x="5883071" y="0"/>
                </a:moveTo>
                <a:lnTo>
                  <a:pt x="0" y="0"/>
                </a:lnTo>
                <a:lnTo>
                  <a:pt x="0" y="139054"/>
                </a:lnTo>
                <a:lnTo>
                  <a:pt x="5883071" y="139054"/>
                </a:lnTo>
                <a:lnTo>
                  <a:pt x="5883071" y="0"/>
                </a:lnTo>
                <a:close/>
              </a:path>
            </a:pathLst>
          </a:custGeom>
          <a:blipFill>
            <a:blip r:embed="rId5">
              <a:extLst>
                <a:ext uri="{96DAC541-7B7A-43D3-8B79-37D633B846F1}">
                  <asvg:svgBlip xmlns:asvg="http://schemas.microsoft.com/office/drawing/2016/SVG/main" r:embed="rId6"/>
                </a:ext>
              </a:extLst>
            </a:blip>
            <a:stretch>
              <a:fillRect t="-127" b="-127"/>
            </a:stretch>
          </a:blipFill>
        </p:spPr>
        <p:txBody>
          <a:bodyPr/>
          <a:lstStyle/>
          <a:p>
            <a:endParaRPr lang="en-IN"/>
          </a:p>
        </p:txBody>
      </p:sp>
      <p:sp>
        <p:nvSpPr>
          <p:cNvPr id="6" name="TextBox 6"/>
          <p:cNvSpPr txBox="1"/>
          <p:nvPr/>
        </p:nvSpPr>
        <p:spPr>
          <a:xfrm>
            <a:off x="-72599" y="1407540"/>
            <a:ext cx="5982154" cy="1028650"/>
          </a:xfrm>
          <a:prstGeom prst="rect">
            <a:avLst/>
          </a:prstGeom>
        </p:spPr>
        <p:txBody>
          <a:bodyPr lIns="0" tIns="0" rIns="0" bIns="0" rtlCol="0" anchor="t">
            <a:spAutoFit/>
          </a:bodyPr>
          <a:lstStyle/>
          <a:p>
            <a:pPr algn="ctr">
              <a:lnSpc>
                <a:spcPts val="8400"/>
              </a:lnSpc>
            </a:pPr>
            <a:r>
              <a:rPr lang="en-US" sz="6000" b="1" dirty="0">
                <a:solidFill>
                  <a:srgbClr val="FFFFFF"/>
                </a:solidFill>
                <a:latin typeface="Montserrat Bold"/>
                <a:ea typeface="Montserrat Bold"/>
                <a:cs typeface="Montserrat Bold"/>
                <a:sym typeface="Montserrat Bold"/>
              </a:rPr>
              <a:t>Idea Details</a:t>
            </a:r>
          </a:p>
        </p:txBody>
      </p:sp>
      <p:sp>
        <p:nvSpPr>
          <p:cNvPr id="7" name="Freeform 7"/>
          <p:cNvSpPr/>
          <p:nvPr/>
        </p:nvSpPr>
        <p:spPr>
          <a:xfrm>
            <a:off x="493060" y="187189"/>
            <a:ext cx="1155374" cy="1139115"/>
          </a:xfrm>
          <a:custGeom>
            <a:avLst/>
            <a:gdLst/>
            <a:ahLst/>
            <a:cxnLst/>
            <a:rect l="l" t="t" r="r" b="b"/>
            <a:pathLst>
              <a:path w="1155374" h="1139115">
                <a:moveTo>
                  <a:pt x="0" y="0"/>
                </a:moveTo>
                <a:lnTo>
                  <a:pt x="1155374" y="0"/>
                </a:lnTo>
                <a:lnTo>
                  <a:pt x="1155374" y="1139115"/>
                </a:lnTo>
                <a:lnTo>
                  <a:pt x="0" y="1139115"/>
                </a:lnTo>
                <a:lnTo>
                  <a:pt x="0" y="0"/>
                </a:lnTo>
                <a:close/>
              </a:path>
            </a:pathLst>
          </a:custGeom>
          <a:blipFill>
            <a:blip r:embed="rId7">
              <a:alphaModFix amt="81000"/>
            </a:blip>
            <a:stretch>
              <a:fillRect l="-48742" t="-27997" r="-43252" b="-66737"/>
            </a:stretch>
          </a:blipFill>
        </p:spPr>
        <p:txBody>
          <a:bodyPr/>
          <a:lstStyle/>
          <a:p>
            <a:endParaRPr lang="en-IN"/>
          </a:p>
        </p:txBody>
      </p:sp>
      <p:sp>
        <p:nvSpPr>
          <p:cNvPr id="8" name="TextBox 8"/>
          <p:cNvSpPr txBox="1"/>
          <p:nvPr/>
        </p:nvSpPr>
        <p:spPr>
          <a:xfrm>
            <a:off x="1913110" y="234054"/>
            <a:ext cx="7992890" cy="891334"/>
          </a:xfrm>
          <a:prstGeom prst="rect">
            <a:avLst/>
          </a:prstGeom>
        </p:spPr>
        <p:txBody>
          <a:bodyPr wrap="square" lIns="0" tIns="0" rIns="0" bIns="0" rtlCol="0" anchor="t">
            <a:spAutoFit/>
          </a:bodyPr>
          <a:lstStyle/>
          <a:p>
            <a:pPr algn="l">
              <a:lnSpc>
                <a:spcPts val="7235"/>
              </a:lnSpc>
            </a:pPr>
            <a:r>
              <a:rPr lang="en-US" sz="5168" dirty="0">
                <a:solidFill>
                  <a:srgbClr val="F9FCFC"/>
                </a:solidFill>
                <a:latin typeface="Black Ops One"/>
                <a:ea typeface="Black Ops One"/>
                <a:cs typeface="Black Ops One"/>
                <a:sym typeface="Black Ops One"/>
              </a:rPr>
              <a:t>HACK TO CRACK 2.O</a:t>
            </a:r>
          </a:p>
        </p:txBody>
      </p:sp>
      <p:sp>
        <p:nvSpPr>
          <p:cNvPr id="10" name="TextBox 9">
            <a:extLst>
              <a:ext uri="{FF2B5EF4-FFF2-40B4-BE49-F238E27FC236}">
                <a16:creationId xmlns:a16="http://schemas.microsoft.com/office/drawing/2014/main" id="{B6EBEE3F-4250-357C-3693-18F2D0718DC6}"/>
              </a:ext>
            </a:extLst>
          </p:cNvPr>
          <p:cNvSpPr txBox="1"/>
          <p:nvPr/>
        </p:nvSpPr>
        <p:spPr>
          <a:xfrm>
            <a:off x="152400" y="2436190"/>
            <a:ext cx="7848600" cy="7478970"/>
          </a:xfrm>
          <a:prstGeom prst="rect">
            <a:avLst/>
          </a:prstGeom>
          <a:noFill/>
        </p:spPr>
        <p:txBody>
          <a:bodyPr wrap="square">
            <a:spAutoFit/>
          </a:bodyPr>
          <a:lstStyle/>
          <a:p>
            <a:pPr algn="just"/>
            <a:r>
              <a:rPr lang="en-US" sz="2000" b="1" dirty="0" err="1">
                <a:solidFill>
                  <a:schemeClr val="bg1"/>
                </a:solidFill>
                <a:latin typeface="Montserrat Bold" panose="020B0604020202020204" charset="0"/>
              </a:rPr>
              <a:t>Innovise</a:t>
            </a:r>
            <a:r>
              <a:rPr lang="en-US" sz="2000" dirty="0">
                <a:solidFill>
                  <a:schemeClr val="bg1"/>
                </a:solidFill>
                <a:latin typeface="Montserrat Bold" panose="020B0604020202020204" charset="0"/>
              </a:rPr>
              <a:t> is an AI-driven platform designed to evaluate and predict the potential success of business ideas. It leverages advanced data analysis, competitor benchmarking, and market trend insights to deliver actionable recommendations. By integrating ethical considerations and sustainability metrics, </a:t>
            </a:r>
            <a:r>
              <a:rPr lang="en-US" sz="2000" dirty="0" err="1">
                <a:solidFill>
                  <a:schemeClr val="bg1"/>
                </a:solidFill>
                <a:latin typeface="Montserrat Bold" panose="020B0604020202020204" charset="0"/>
              </a:rPr>
              <a:t>Innovise</a:t>
            </a:r>
            <a:r>
              <a:rPr lang="en-US" sz="2000" dirty="0">
                <a:solidFill>
                  <a:schemeClr val="bg1"/>
                </a:solidFill>
                <a:latin typeface="Montserrat Bold" panose="020B0604020202020204" charset="0"/>
              </a:rPr>
              <a:t> ensures responsible innovation while empowering decision-makers with clear, data-backed guidance.</a:t>
            </a:r>
            <a:br>
              <a:rPr lang="en-US" sz="2000" dirty="0">
                <a:solidFill>
                  <a:schemeClr val="bg1"/>
                </a:solidFill>
                <a:latin typeface="Montserrat Bold" panose="020B0604020202020204" charset="0"/>
              </a:rPr>
            </a:br>
            <a:br>
              <a:rPr lang="en-US" sz="2000" dirty="0">
                <a:solidFill>
                  <a:schemeClr val="bg1"/>
                </a:solidFill>
                <a:latin typeface="Montserrat Bold" panose="020B0604020202020204" charset="0"/>
              </a:rPr>
            </a:br>
            <a:r>
              <a:rPr lang="en-US" sz="2000" dirty="0">
                <a:solidFill>
                  <a:schemeClr val="bg1"/>
                </a:solidFill>
                <a:latin typeface="Montserrat Bold" panose="020B0604020202020204" charset="0"/>
              </a:rPr>
              <a:t>Use Cases:</a:t>
            </a:r>
          </a:p>
          <a:p>
            <a:pPr algn="just"/>
            <a:r>
              <a:rPr lang="en-US" sz="2000" dirty="0">
                <a:solidFill>
                  <a:schemeClr val="bg1"/>
                </a:solidFill>
                <a:latin typeface="Montserrat Bold" panose="020B0604020202020204" charset="0"/>
              </a:rPr>
              <a:t> ● Startups and entrepreneurs:</a:t>
            </a:r>
          </a:p>
          <a:p>
            <a:pPr algn="just"/>
            <a:r>
              <a:rPr lang="en-US" sz="2000" dirty="0">
                <a:solidFill>
                  <a:schemeClr val="bg1"/>
                </a:solidFill>
                <a:latin typeface="Montserrat Bold" panose="020B0604020202020204" charset="0"/>
              </a:rPr>
              <a:t> Evaluate new business ideas, identify potential pitfalls and opportunities, increase the success rate of ventures.</a:t>
            </a:r>
          </a:p>
          <a:p>
            <a:pPr algn="just"/>
            <a:r>
              <a:rPr lang="en-US" sz="2000" dirty="0">
                <a:solidFill>
                  <a:schemeClr val="bg1"/>
                </a:solidFill>
                <a:latin typeface="Montserrat Bold" panose="020B0604020202020204" charset="0"/>
              </a:rPr>
              <a:t> ● Corporations and established businesses:</a:t>
            </a:r>
          </a:p>
          <a:p>
            <a:pPr algn="just"/>
            <a:r>
              <a:rPr lang="en-US" sz="2000" dirty="0">
                <a:solidFill>
                  <a:schemeClr val="bg1"/>
                </a:solidFill>
                <a:latin typeface="Montserrat Bold" panose="020B0604020202020204" charset="0"/>
              </a:rPr>
              <a:t> Innovate within existing product lines, explore new markets, identify potential acquisitions or partnerships, optimize current processes.</a:t>
            </a:r>
          </a:p>
          <a:p>
            <a:pPr algn="just"/>
            <a:r>
              <a:rPr lang="en-US" sz="2000" dirty="0">
                <a:solidFill>
                  <a:schemeClr val="bg1"/>
                </a:solidFill>
                <a:latin typeface="Montserrat Bold" panose="020B0604020202020204" charset="0"/>
              </a:rPr>
              <a:t> ● Investors and venture capitalists:</a:t>
            </a:r>
          </a:p>
          <a:p>
            <a:pPr algn="just"/>
            <a:r>
              <a:rPr lang="en-US" sz="2000" dirty="0">
                <a:solidFill>
                  <a:schemeClr val="bg1"/>
                </a:solidFill>
                <a:latin typeface="Montserrat Bold" panose="020B0604020202020204" charset="0"/>
              </a:rPr>
              <a:t> Analyze potential investments, identify promising startups, gain deeper insights into market trends and potential risks.</a:t>
            </a:r>
          </a:p>
          <a:p>
            <a:pPr algn="just"/>
            <a:r>
              <a:rPr lang="en-US" sz="2000" dirty="0">
                <a:solidFill>
                  <a:schemeClr val="bg1"/>
                </a:solidFill>
                <a:latin typeface="Montserrat Bold" panose="020B0604020202020204" charset="0"/>
              </a:rPr>
              <a:t> ● Academic researchers and educators:</a:t>
            </a:r>
          </a:p>
          <a:p>
            <a:pPr algn="just"/>
            <a:r>
              <a:rPr lang="en-US" sz="2000" dirty="0">
                <a:solidFill>
                  <a:schemeClr val="bg1"/>
                </a:solidFill>
                <a:latin typeface="Montserrat Bold" panose="020B0604020202020204" charset="0"/>
              </a:rPr>
              <a:t> Develop new research initiatives, improve the quality of academic proposals, foster innovation within classrooms.</a:t>
            </a:r>
          </a:p>
        </p:txBody>
      </p:sp>
      <p:pic>
        <p:nvPicPr>
          <p:cNvPr id="17" name="Picture 16">
            <a:extLst>
              <a:ext uri="{FF2B5EF4-FFF2-40B4-BE49-F238E27FC236}">
                <a16:creationId xmlns:a16="http://schemas.microsoft.com/office/drawing/2014/main" id="{BF1D0FCE-4240-4098-0DF3-B77FE8E2E05A}"/>
              </a:ext>
            </a:extLst>
          </p:cNvPr>
          <p:cNvPicPr>
            <a:picLocks noChangeAspect="1"/>
          </p:cNvPicPr>
          <p:nvPr/>
        </p:nvPicPr>
        <p:blipFill>
          <a:blip r:embed="rId8"/>
          <a:stretch>
            <a:fillRect/>
          </a:stretch>
        </p:blipFill>
        <p:spPr>
          <a:xfrm>
            <a:off x="8225999" y="2468294"/>
            <a:ext cx="10063702" cy="747897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8072B"/>
        </a:solidFill>
        <a:effectLst/>
      </p:bgPr>
    </p:bg>
    <p:spTree>
      <p:nvGrpSpPr>
        <p:cNvPr id="1" name=""/>
        <p:cNvGrpSpPr/>
        <p:nvPr/>
      </p:nvGrpSpPr>
      <p:grpSpPr>
        <a:xfrm>
          <a:off x="0" y="0"/>
          <a:ext cx="0" cy="0"/>
          <a:chOff x="0" y="0"/>
          <a:chExt cx="0" cy="0"/>
        </a:xfrm>
      </p:grpSpPr>
      <p:sp>
        <p:nvSpPr>
          <p:cNvPr id="2" name="Freeform 2"/>
          <p:cNvSpPr/>
          <p:nvPr/>
        </p:nvSpPr>
        <p:spPr>
          <a:xfrm>
            <a:off x="17192315" y="612415"/>
            <a:ext cx="559181" cy="296366"/>
          </a:xfrm>
          <a:custGeom>
            <a:avLst/>
            <a:gdLst/>
            <a:ahLst/>
            <a:cxnLst/>
            <a:rect l="l" t="t" r="r" b="b"/>
            <a:pathLst>
              <a:path w="559181" h="296366">
                <a:moveTo>
                  <a:pt x="0" y="0"/>
                </a:moveTo>
                <a:lnTo>
                  <a:pt x="559181" y="0"/>
                </a:lnTo>
                <a:lnTo>
                  <a:pt x="559181" y="296366"/>
                </a:lnTo>
                <a:lnTo>
                  <a:pt x="0" y="296366"/>
                </a:lnTo>
                <a:lnTo>
                  <a:pt x="0" y="0"/>
                </a:lnTo>
                <a:close/>
              </a:path>
            </a:pathLst>
          </a:custGeom>
          <a:blipFill>
            <a:blip r:embed="rId2">
              <a:extLst>
                <a:ext uri="{96DAC541-7B7A-43D3-8B79-37D633B846F1}">
                  <asvg:svgBlip xmlns:asvg="http://schemas.microsoft.com/office/drawing/2016/SVG/main" r:embed="rId3"/>
                </a:ext>
              </a:extLst>
            </a:blip>
            <a:stretch>
              <a:fillRect t="-1167" b="-1167"/>
            </a:stretch>
          </a:blipFill>
        </p:spPr>
        <p:txBody>
          <a:bodyPr/>
          <a:lstStyle/>
          <a:p>
            <a:endParaRPr lang="en-IN"/>
          </a:p>
        </p:txBody>
      </p:sp>
      <p:sp>
        <p:nvSpPr>
          <p:cNvPr id="3" name="Freeform 3"/>
          <p:cNvSpPr/>
          <p:nvPr/>
        </p:nvSpPr>
        <p:spPr>
          <a:xfrm>
            <a:off x="-3014749" y="1326304"/>
            <a:ext cx="6873872" cy="162473"/>
          </a:xfrm>
          <a:custGeom>
            <a:avLst/>
            <a:gdLst/>
            <a:ahLst/>
            <a:cxnLst/>
            <a:rect l="l" t="t" r="r" b="b"/>
            <a:pathLst>
              <a:path w="6873872" h="162473">
                <a:moveTo>
                  <a:pt x="0" y="0"/>
                </a:moveTo>
                <a:lnTo>
                  <a:pt x="6873872" y="0"/>
                </a:lnTo>
                <a:lnTo>
                  <a:pt x="6873872" y="162473"/>
                </a:lnTo>
                <a:lnTo>
                  <a:pt x="0" y="162473"/>
                </a:lnTo>
                <a:lnTo>
                  <a:pt x="0" y="0"/>
                </a:lnTo>
                <a:close/>
              </a:path>
            </a:pathLst>
          </a:custGeom>
          <a:blipFill>
            <a:blip r:embed="rId4">
              <a:extLst>
                <a:ext uri="{96DAC541-7B7A-43D3-8B79-37D633B846F1}">
                  <asvg:svgBlip xmlns:asvg="http://schemas.microsoft.com/office/drawing/2016/SVG/main" r:embed="rId5"/>
                </a:ext>
              </a:extLst>
            </a:blip>
            <a:stretch>
              <a:fillRect t="-1455" b="-1455"/>
            </a:stretch>
          </a:blipFill>
        </p:spPr>
        <p:txBody>
          <a:bodyPr/>
          <a:lstStyle/>
          <a:p>
            <a:endParaRPr lang="en-IN"/>
          </a:p>
        </p:txBody>
      </p:sp>
      <p:sp>
        <p:nvSpPr>
          <p:cNvPr id="4" name="Freeform 4"/>
          <p:cNvSpPr/>
          <p:nvPr/>
        </p:nvSpPr>
        <p:spPr>
          <a:xfrm rot="-10800000">
            <a:off x="4237596" y="1326304"/>
            <a:ext cx="5883071" cy="139054"/>
          </a:xfrm>
          <a:custGeom>
            <a:avLst/>
            <a:gdLst/>
            <a:ahLst/>
            <a:cxnLst/>
            <a:rect l="l" t="t" r="r" b="b"/>
            <a:pathLst>
              <a:path w="5883071" h="139054">
                <a:moveTo>
                  <a:pt x="0" y="0"/>
                </a:moveTo>
                <a:lnTo>
                  <a:pt x="5883071" y="0"/>
                </a:lnTo>
                <a:lnTo>
                  <a:pt x="5883071" y="139054"/>
                </a:lnTo>
                <a:lnTo>
                  <a:pt x="0" y="139054"/>
                </a:lnTo>
                <a:lnTo>
                  <a:pt x="0" y="0"/>
                </a:lnTo>
                <a:close/>
              </a:path>
            </a:pathLst>
          </a:custGeom>
          <a:blipFill>
            <a:blip r:embed="rId4">
              <a:extLst>
                <a:ext uri="{96DAC541-7B7A-43D3-8B79-37D633B846F1}">
                  <asvg:svgBlip xmlns:asvg="http://schemas.microsoft.com/office/drawing/2016/SVG/main" r:embed="rId5"/>
                </a:ext>
              </a:extLst>
            </a:blip>
            <a:stretch>
              <a:fillRect t="-127" b="-127"/>
            </a:stretch>
          </a:blipFill>
        </p:spPr>
        <p:txBody>
          <a:bodyPr/>
          <a:lstStyle/>
          <a:p>
            <a:endParaRPr lang="en-IN"/>
          </a:p>
        </p:txBody>
      </p:sp>
      <p:sp>
        <p:nvSpPr>
          <p:cNvPr id="5" name="Freeform 5"/>
          <p:cNvSpPr/>
          <p:nvPr/>
        </p:nvSpPr>
        <p:spPr>
          <a:xfrm rot="-10800000" flipH="1">
            <a:off x="10501667" y="1349722"/>
            <a:ext cx="5883071" cy="139054"/>
          </a:xfrm>
          <a:custGeom>
            <a:avLst/>
            <a:gdLst/>
            <a:ahLst/>
            <a:cxnLst/>
            <a:rect l="l" t="t" r="r" b="b"/>
            <a:pathLst>
              <a:path w="5883071" h="139054">
                <a:moveTo>
                  <a:pt x="5883071" y="0"/>
                </a:moveTo>
                <a:lnTo>
                  <a:pt x="0" y="0"/>
                </a:lnTo>
                <a:lnTo>
                  <a:pt x="0" y="139054"/>
                </a:lnTo>
                <a:lnTo>
                  <a:pt x="5883071" y="139054"/>
                </a:lnTo>
                <a:lnTo>
                  <a:pt x="5883071" y="0"/>
                </a:lnTo>
                <a:close/>
              </a:path>
            </a:pathLst>
          </a:custGeom>
          <a:blipFill>
            <a:blip r:embed="rId4">
              <a:extLst>
                <a:ext uri="{96DAC541-7B7A-43D3-8B79-37D633B846F1}">
                  <asvg:svgBlip xmlns:asvg="http://schemas.microsoft.com/office/drawing/2016/SVG/main" r:embed="rId5"/>
                </a:ext>
              </a:extLst>
            </a:blip>
            <a:stretch>
              <a:fillRect t="-127" b="-127"/>
            </a:stretch>
          </a:blipFill>
        </p:spPr>
        <p:txBody>
          <a:bodyPr/>
          <a:lstStyle/>
          <a:p>
            <a:endParaRPr lang="en-IN"/>
          </a:p>
        </p:txBody>
      </p:sp>
      <p:sp>
        <p:nvSpPr>
          <p:cNvPr id="6" name="TextBox 6"/>
          <p:cNvSpPr txBox="1"/>
          <p:nvPr/>
        </p:nvSpPr>
        <p:spPr>
          <a:xfrm>
            <a:off x="-188695" y="1775868"/>
            <a:ext cx="11374847" cy="1028650"/>
          </a:xfrm>
          <a:prstGeom prst="rect">
            <a:avLst/>
          </a:prstGeom>
        </p:spPr>
        <p:txBody>
          <a:bodyPr lIns="0" tIns="0" rIns="0" bIns="0" rtlCol="0" anchor="t">
            <a:spAutoFit/>
          </a:bodyPr>
          <a:lstStyle/>
          <a:p>
            <a:pPr algn="ctr">
              <a:lnSpc>
                <a:spcPts val="8400"/>
              </a:lnSpc>
            </a:pPr>
            <a:r>
              <a:rPr lang="en-US" sz="6000" b="1">
                <a:solidFill>
                  <a:srgbClr val="FFFFFF"/>
                </a:solidFill>
                <a:latin typeface="Montserrat Bold"/>
                <a:ea typeface="Montserrat Bold"/>
                <a:cs typeface="Montserrat Bold"/>
                <a:sym typeface="Montserrat Bold"/>
              </a:rPr>
              <a:t>Flowchart / Architecture</a:t>
            </a:r>
          </a:p>
        </p:txBody>
      </p:sp>
      <p:sp>
        <p:nvSpPr>
          <p:cNvPr id="7" name="Freeform 7"/>
          <p:cNvSpPr/>
          <p:nvPr/>
        </p:nvSpPr>
        <p:spPr>
          <a:xfrm>
            <a:off x="493060" y="187189"/>
            <a:ext cx="1155374" cy="1139115"/>
          </a:xfrm>
          <a:custGeom>
            <a:avLst/>
            <a:gdLst/>
            <a:ahLst/>
            <a:cxnLst/>
            <a:rect l="l" t="t" r="r" b="b"/>
            <a:pathLst>
              <a:path w="1155374" h="1139115">
                <a:moveTo>
                  <a:pt x="0" y="0"/>
                </a:moveTo>
                <a:lnTo>
                  <a:pt x="1155374" y="0"/>
                </a:lnTo>
                <a:lnTo>
                  <a:pt x="1155374" y="1139115"/>
                </a:lnTo>
                <a:lnTo>
                  <a:pt x="0" y="1139115"/>
                </a:lnTo>
                <a:lnTo>
                  <a:pt x="0" y="0"/>
                </a:lnTo>
                <a:close/>
              </a:path>
            </a:pathLst>
          </a:custGeom>
          <a:blipFill>
            <a:blip r:embed="rId6">
              <a:alphaModFix amt="81000"/>
            </a:blip>
            <a:stretch>
              <a:fillRect l="-48742" t="-27997" r="-43252" b="-66737"/>
            </a:stretch>
          </a:blipFill>
        </p:spPr>
        <p:txBody>
          <a:bodyPr/>
          <a:lstStyle/>
          <a:p>
            <a:endParaRPr lang="en-IN"/>
          </a:p>
        </p:txBody>
      </p:sp>
      <p:sp>
        <p:nvSpPr>
          <p:cNvPr id="8" name="TextBox 8"/>
          <p:cNvSpPr txBox="1"/>
          <p:nvPr/>
        </p:nvSpPr>
        <p:spPr>
          <a:xfrm>
            <a:off x="1913110" y="234054"/>
            <a:ext cx="8207557" cy="891334"/>
          </a:xfrm>
          <a:prstGeom prst="rect">
            <a:avLst/>
          </a:prstGeom>
        </p:spPr>
        <p:txBody>
          <a:bodyPr wrap="square" lIns="0" tIns="0" rIns="0" bIns="0" rtlCol="0" anchor="t">
            <a:spAutoFit/>
          </a:bodyPr>
          <a:lstStyle/>
          <a:p>
            <a:pPr algn="l">
              <a:lnSpc>
                <a:spcPts val="7235"/>
              </a:lnSpc>
            </a:pPr>
            <a:r>
              <a:rPr lang="en-US" sz="5168" dirty="0">
                <a:solidFill>
                  <a:srgbClr val="F9FCFC"/>
                </a:solidFill>
                <a:latin typeface="Black Ops One"/>
                <a:ea typeface="Black Ops One"/>
                <a:cs typeface="Black Ops One"/>
                <a:sym typeface="Black Ops One"/>
              </a:rPr>
              <a:t>HACK TO CRACK 2.O</a:t>
            </a:r>
          </a:p>
        </p:txBody>
      </p:sp>
      <p:pic>
        <p:nvPicPr>
          <p:cNvPr id="12" name="Picture 11">
            <a:extLst>
              <a:ext uri="{FF2B5EF4-FFF2-40B4-BE49-F238E27FC236}">
                <a16:creationId xmlns:a16="http://schemas.microsoft.com/office/drawing/2014/main" id="{E5D5F281-9C20-98CF-DA9C-3F599FB5B8A4}"/>
              </a:ext>
            </a:extLst>
          </p:cNvPr>
          <p:cNvPicPr>
            <a:picLocks noChangeAspect="1"/>
          </p:cNvPicPr>
          <p:nvPr/>
        </p:nvPicPr>
        <p:blipFill>
          <a:blip r:embed="rId7"/>
          <a:stretch>
            <a:fillRect/>
          </a:stretch>
        </p:blipFill>
        <p:spPr>
          <a:xfrm>
            <a:off x="329447" y="3086759"/>
            <a:ext cx="9774014" cy="6857341"/>
          </a:xfrm>
          <a:prstGeom prst="rect">
            <a:avLst/>
          </a:prstGeom>
        </p:spPr>
      </p:pic>
      <p:pic>
        <p:nvPicPr>
          <p:cNvPr id="10" name="Picture 9">
            <a:extLst>
              <a:ext uri="{FF2B5EF4-FFF2-40B4-BE49-F238E27FC236}">
                <a16:creationId xmlns:a16="http://schemas.microsoft.com/office/drawing/2014/main" id="{97615181-488C-FE8F-8563-1693ABC13E0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103461" y="1666274"/>
            <a:ext cx="8441409" cy="803412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8072B"/>
        </a:solidFill>
        <a:effectLst/>
      </p:bgPr>
    </p:bg>
    <p:spTree>
      <p:nvGrpSpPr>
        <p:cNvPr id="1" name=""/>
        <p:cNvGrpSpPr/>
        <p:nvPr/>
      </p:nvGrpSpPr>
      <p:grpSpPr>
        <a:xfrm>
          <a:off x="0" y="0"/>
          <a:ext cx="0" cy="0"/>
          <a:chOff x="0" y="0"/>
          <a:chExt cx="0" cy="0"/>
        </a:xfrm>
      </p:grpSpPr>
      <p:sp>
        <p:nvSpPr>
          <p:cNvPr id="2" name="Freeform 2"/>
          <p:cNvSpPr/>
          <p:nvPr/>
        </p:nvSpPr>
        <p:spPr>
          <a:xfrm>
            <a:off x="17192315" y="612415"/>
            <a:ext cx="559181" cy="296366"/>
          </a:xfrm>
          <a:custGeom>
            <a:avLst/>
            <a:gdLst/>
            <a:ahLst/>
            <a:cxnLst/>
            <a:rect l="l" t="t" r="r" b="b"/>
            <a:pathLst>
              <a:path w="559181" h="296366">
                <a:moveTo>
                  <a:pt x="0" y="0"/>
                </a:moveTo>
                <a:lnTo>
                  <a:pt x="559181" y="0"/>
                </a:lnTo>
                <a:lnTo>
                  <a:pt x="559181" y="296366"/>
                </a:lnTo>
                <a:lnTo>
                  <a:pt x="0" y="296366"/>
                </a:lnTo>
                <a:lnTo>
                  <a:pt x="0" y="0"/>
                </a:lnTo>
                <a:close/>
              </a:path>
            </a:pathLst>
          </a:custGeom>
          <a:blipFill>
            <a:blip r:embed="rId2">
              <a:extLst>
                <a:ext uri="{96DAC541-7B7A-43D3-8B79-37D633B846F1}">
                  <asvg:svgBlip xmlns:asvg="http://schemas.microsoft.com/office/drawing/2016/SVG/main" r:embed="rId3"/>
                </a:ext>
              </a:extLst>
            </a:blip>
            <a:stretch>
              <a:fillRect t="-1167" b="-1167"/>
            </a:stretch>
          </a:blipFill>
        </p:spPr>
        <p:txBody>
          <a:bodyPr/>
          <a:lstStyle/>
          <a:p>
            <a:endParaRPr lang="en-IN"/>
          </a:p>
        </p:txBody>
      </p:sp>
      <p:sp>
        <p:nvSpPr>
          <p:cNvPr id="3" name="Freeform 3"/>
          <p:cNvSpPr/>
          <p:nvPr/>
        </p:nvSpPr>
        <p:spPr>
          <a:xfrm>
            <a:off x="-3014749" y="1326304"/>
            <a:ext cx="6873872" cy="162473"/>
          </a:xfrm>
          <a:custGeom>
            <a:avLst/>
            <a:gdLst/>
            <a:ahLst/>
            <a:cxnLst/>
            <a:rect l="l" t="t" r="r" b="b"/>
            <a:pathLst>
              <a:path w="6873872" h="162473">
                <a:moveTo>
                  <a:pt x="0" y="0"/>
                </a:moveTo>
                <a:lnTo>
                  <a:pt x="6873872" y="0"/>
                </a:lnTo>
                <a:lnTo>
                  <a:pt x="6873872" y="162473"/>
                </a:lnTo>
                <a:lnTo>
                  <a:pt x="0" y="162473"/>
                </a:lnTo>
                <a:lnTo>
                  <a:pt x="0" y="0"/>
                </a:lnTo>
                <a:close/>
              </a:path>
            </a:pathLst>
          </a:custGeom>
          <a:blipFill>
            <a:blip r:embed="rId4">
              <a:extLst>
                <a:ext uri="{96DAC541-7B7A-43D3-8B79-37D633B846F1}">
                  <asvg:svgBlip xmlns:asvg="http://schemas.microsoft.com/office/drawing/2016/SVG/main" r:embed="rId5"/>
                </a:ext>
              </a:extLst>
            </a:blip>
            <a:stretch>
              <a:fillRect t="-1455" b="-1455"/>
            </a:stretch>
          </a:blipFill>
        </p:spPr>
        <p:txBody>
          <a:bodyPr/>
          <a:lstStyle/>
          <a:p>
            <a:endParaRPr lang="en-IN"/>
          </a:p>
        </p:txBody>
      </p:sp>
      <p:sp>
        <p:nvSpPr>
          <p:cNvPr id="4" name="Freeform 4"/>
          <p:cNvSpPr/>
          <p:nvPr/>
        </p:nvSpPr>
        <p:spPr>
          <a:xfrm rot="-10800000">
            <a:off x="4237596" y="1326304"/>
            <a:ext cx="5883071" cy="139054"/>
          </a:xfrm>
          <a:custGeom>
            <a:avLst/>
            <a:gdLst/>
            <a:ahLst/>
            <a:cxnLst/>
            <a:rect l="l" t="t" r="r" b="b"/>
            <a:pathLst>
              <a:path w="5883071" h="139054">
                <a:moveTo>
                  <a:pt x="0" y="0"/>
                </a:moveTo>
                <a:lnTo>
                  <a:pt x="5883071" y="0"/>
                </a:lnTo>
                <a:lnTo>
                  <a:pt x="5883071" y="139054"/>
                </a:lnTo>
                <a:lnTo>
                  <a:pt x="0" y="139054"/>
                </a:lnTo>
                <a:lnTo>
                  <a:pt x="0" y="0"/>
                </a:lnTo>
                <a:close/>
              </a:path>
            </a:pathLst>
          </a:custGeom>
          <a:blipFill>
            <a:blip r:embed="rId4">
              <a:extLst>
                <a:ext uri="{96DAC541-7B7A-43D3-8B79-37D633B846F1}">
                  <asvg:svgBlip xmlns:asvg="http://schemas.microsoft.com/office/drawing/2016/SVG/main" r:embed="rId5"/>
                </a:ext>
              </a:extLst>
            </a:blip>
            <a:stretch>
              <a:fillRect t="-127" b="-127"/>
            </a:stretch>
          </a:blipFill>
        </p:spPr>
        <p:txBody>
          <a:bodyPr/>
          <a:lstStyle/>
          <a:p>
            <a:endParaRPr lang="en-IN"/>
          </a:p>
        </p:txBody>
      </p:sp>
      <p:sp>
        <p:nvSpPr>
          <p:cNvPr id="5" name="Freeform 5"/>
          <p:cNvSpPr/>
          <p:nvPr/>
        </p:nvSpPr>
        <p:spPr>
          <a:xfrm rot="-10800000" flipH="1">
            <a:off x="10501667" y="1349722"/>
            <a:ext cx="5883071" cy="139054"/>
          </a:xfrm>
          <a:custGeom>
            <a:avLst/>
            <a:gdLst/>
            <a:ahLst/>
            <a:cxnLst/>
            <a:rect l="l" t="t" r="r" b="b"/>
            <a:pathLst>
              <a:path w="5883071" h="139054">
                <a:moveTo>
                  <a:pt x="5883071" y="0"/>
                </a:moveTo>
                <a:lnTo>
                  <a:pt x="0" y="0"/>
                </a:lnTo>
                <a:lnTo>
                  <a:pt x="0" y="139054"/>
                </a:lnTo>
                <a:lnTo>
                  <a:pt x="5883071" y="139054"/>
                </a:lnTo>
                <a:lnTo>
                  <a:pt x="5883071" y="0"/>
                </a:lnTo>
                <a:close/>
              </a:path>
            </a:pathLst>
          </a:custGeom>
          <a:blipFill>
            <a:blip r:embed="rId4">
              <a:extLst>
                <a:ext uri="{96DAC541-7B7A-43D3-8B79-37D633B846F1}">
                  <asvg:svgBlip xmlns:asvg="http://schemas.microsoft.com/office/drawing/2016/SVG/main" r:embed="rId5"/>
                </a:ext>
              </a:extLst>
            </a:blip>
            <a:stretch>
              <a:fillRect t="-127" b="-127"/>
            </a:stretch>
          </a:blipFill>
        </p:spPr>
        <p:txBody>
          <a:bodyPr/>
          <a:lstStyle/>
          <a:p>
            <a:endParaRPr lang="en-IN"/>
          </a:p>
        </p:txBody>
      </p:sp>
      <p:sp>
        <p:nvSpPr>
          <p:cNvPr id="6" name="TextBox 6"/>
          <p:cNvSpPr txBox="1"/>
          <p:nvPr/>
        </p:nvSpPr>
        <p:spPr>
          <a:xfrm>
            <a:off x="-496566" y="1806540"/>
            <a:ext cx="8711378" cy="1044677"/>
          </a:xfrm>
          <a:prstGeom prst="rect">
            <a:avLst/>
          </a:prstGeom>
        </p:spPr>
        <p:txBody>
          <a:bodyPr lIns="0" tIns="0" rIns="0" bIns="0" rtlCol="0" anchor="t">
            <a:spAutoFit/>
          </a:bodyPr>
          <a:lstStyle/>
          <a:p>
            <a:pPr algn="ctr">
              <a:lnSpc>
                <a:spcPts val="8567"/>
              </a:lnSpc>
            </a:pPr>
            <a:r>
              <a:rPr lang="en-US" sz="6119" b="1" dirty="0">
                <a:solidFill>
                  <a:srgbClr val="FFFFFF"/>
                </a:solidFill>
                <a:latin typeface="Montserrat Bold"/>
                <a:ea typeface="Montserrat Bold"/>
                <a:cs typeface="Montserrat Bold"/>
                <a:sym typeface="Montserrat Bold"/>
              </a:rPr>
              <a:t>Tech Stack Used</a:t>
            </a:r>
          </a:p>
        </p:txBody>
      </p:sp>
      <p:sp>
        <p:nvSpPr>
          <p:cNvPr id="7" name="Freeform 7"/>
          <p:cNvSpPr/>
          <p:nvPr/>
        </p:nvSpPr>
        <p:spPr>
          <a:xfrm>
            <a:off x="493060" y="187189"/>
            <a:ext cx="1155374" cy="1139115"/>
          </a:xfrm>
          <a:custGeom>
            <a:avLst/>
            <a:gdLst/>
            <a:ahLst/>
            <a:cxnLst/>
            <a:rect l="l" t="t" r="r" b="b"/>
            <a:pathLst>
              <a:path w="1155374" h="1139115">
                <a:moveTo>
                  <a:pt x="0" y="0"/>
                </a:moveTo>
                <a:lnTo>
                  <a:pt x="1155374" y="0"/>
                </a:lnTo>
                <a:lnTo>
                  <a:pt x="1155374" y="1139115"/>
                </a:lnTo>
                <a:lnTo>
                  <a:pt x="0" y="1139115"/>
                </a:lnTo>
                <a:lnTo>
                  <a:pt x="0" y="0"/>
                </a:lnTo>
                <a:close/>
              </a:path>
            </a:pathLst>
          </a:custGeom>
          <a:blipFill>
            <a:blip r:embed="rId6">
              <a:alphaModFix amt="81000"/>
            </a:blip>
            <a:stretch>
              <a:fillRect l="-48742" t="-27997" r="-43252" b="-66737"/>
            </a:stretch>
          </a:blipFill>
        </p:spPr>
        <p:txBody>
          <a:bodyPr/>
          <a:lstStyle/>
          <a:p>
            <a:endParaRPr lang="en-IN"/>
          </a:p>
        </p:txBody>
      </p:sp>
      <p:sp>
        <p:nvSpPr>
          <p:cNvPr id="8" name="TextBox 8"/>
          <p:cNvSpPr txBox="1"/>
          <p:nvPr/>
        </p:nvSpPr>
        <p:spPr>
          <a:xfrm>
            <a:off x="1913110" y="234054"/>
            <a:ext cx="7611890" cy="891334"/>
          </a:xfrm>
          <a:prstGeom prst="rect">
            <a:avLst/>
          </a:prstGeom>
        </p:spPr>
        <p:txBody>
          <a:bodyPr wrap="square" lIns="0" tIns="0" rIns="0" bIns="0" rtlCol="0" anchor="t">
            <a:spAutoFit/>
          </a:bodyPr>
          <a:lstStyle/>
          <a:p>
            <a:pPr algn="l">
              <a:lnSpc>
                <a:spcPts val="7235"/>
              </a:lnSpc>
            </a:pPr>
            <a:r>
              <a:rPr lang="en-US" sz="5168" dirty="0">
                <a:solidFill>
                  <a:srgbClr val="F9FCFC"/>
                </a:solidFill>
                <a:latin typeface="Black Ops One"/>
                <a:ea typeface="Black Ops One"/>
                <a:cs typeface="Black Ops One"/>
                <a:sym typeface="Black Ops One"/>
              </a:rPr>
              <a:t>HACK TO CRACK 2.O</a:t>
            </a:r>
          </a:p>
        </p:txBody>
      </p:sp>
      <p:pic>
        <p:nvPicPr>
          <p:cNvPr id="10" name="Picture 9">
            <a:extLst>
              <a:ext uri="{FF2B5EF4-FFF2-40B4-BE49-F238E27FC236}">
                <a16:creationId xmlns:a16="http://schemas.microsoft.com/office/drawing/2014/main" id="{BCC5EA44-8E6D-A33C-750C-B4C2ED1E12CB}"/>
              </a:ext>
            </a:extLst>
          </p:cNvPr>
          <p:cNvPicPr>
            <a:picLocks noChangeAspect="1"/>
          </p:cNvPicPr>
          <p:nvPr/>
        </p:nvPicPr>
        <p:blipFill>
          <a:blip r:embed="rId7" cstate="print">
            <a:extLst>
              <a:ext uri="{28A0092B-C50C-407E-A947-70E740481C1C}">
                <a14:useLocalDpi xmlns:a14="http://schemas.microsoft.com/office/drawing/2010/main" val="0"/>
              </a:ext>
            </a:extLst>
          </a:blip>
          <a:srcRect l="5131" t="12857" r="9993" b="4106"/>
          <a:stretch/>
        </p:blipFill>
        <p:spPr>
          <a:xfrm>
            <a:off x="-118093" y="2822949"/>
            <a:ext cx="8711378" cy="7353356"/>
          </a:xfrm>
          <a:prstGeom prst="rect">
            <a:avLst/>
          </a:prstGeom>
        </p:spPr>
      </p:pic>
      <p:pic>
        <p:nvPicPr>
          <p:cNvPr id="1026" name="Picture 2">
            <a:extLst>
              <a:ext uri="{FF2B5EF4-FFF2-40B4-BE49-F238E27FC236}">
                <a16:creationId xmlns:a16="http://schemas.microsoft.com/office/drawing/2014/main" id="{AB201299-CE90-317F-D743-68D1F598138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93834" y="3223944"/>
            <a:ext cx="9894166" cy="5497446"/>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6">
            <a:extLst>
              <a:ext uri="{FF2B5EF4-FFF2-40B4-BE49-F238E27FC236}">
                <a16:creationId xmlns:a16="http://schemas.microsoft.com/office/drawing/2014/main" id="{00CE95BE-7DB6-D494-26BE-7B32EEBB207F}"/>
              </a:ext>
            </a:extLst>
          </p:cNvPr>
          <p:cNvSpPr txBox="1"/>
          <p:nvPr/>
        </p:nvSpPr>
        <p:spPr>
          <a:xfrm>
            <a:off x="7772400" y="1851843"/>
            <a:ext cx="8711378" cy="1044677"/>
          </a:xfrm>
          <a:prstGeom prst="rect">
            <a:avLst/>
          </a:prstGeom>
        </p:spPr>
        <p:txBody>
          <a:bodyPr lIns="0" tIns="0" rIns="0" bIns="0" rtlCol="0" anchor="t">
            <a:spAutoFit/>
          </a:bodyPr>
          <a:lstStyle/>
          <a:p>
            <a:pPr algn="ctr">
              <a:lnSpc>
                <a:spcPts val="8567"/>
              </a:lnSpc>
            </a:pPr>
            <a:r>
              <a:rPr lang="en-US" sz="6119" b="1" dirty="0">
                <a:solidFill>
                  <a:srgbClr val="FFFFFF"/>
                </a:solidFill>
                <a:latin typeface="Montserrat Bold"/>
                <a:ea typeface="Montserrat Bold"/>
                <a:cs typeface="Montserrat Bold"/>
                <a:sym typeface="Montserrat Bold"/>
              </a:rPr>
              <a:t>Figma Design:</a:t>
            </a:r>
          </a:p>
        </p:txBody>
      </p:sp>
      <p:sp>
        <p:nvSpPr>
          <p:cNvPr id="15" name="TextBox 14">
            <a:extLst>
              <a:ext uri="{FF2B5EF4-FFF2-40B4-BE49-F238E27FC236}">
                <a16:creationId xmlns:a16="http://schemas.microsoft.com/office/drawing/2014/main" id="{C817498D-53E6-BAAB-CC37-32AD611834EE}"/>
              </a:ext>
            </a:extLst>
          </p:cNvPr>
          <p:cNvSpPr txBox="1"/>
          <p:nvPr/>
        </p:nvSpPr>
        <p:spPr>
          <a:xfrm>
            <a:off x="8593285" y="8842359"/>
            <a:ext cx="9536684" cy="830997"/>
          </a:xfrm>
          <a:prstGeom prst="rect">
            <a:avLst/>
          </a:prstGeom>
          <a:noFill/>
        </p:spPr>
        <p:txBody>
          <a:bodyPr wrap="square">
            <a:spAutoFit/>
          </a:bodyPr>
          <a:lstStyle/>
          <a:p>
            <a:r>
              <a:rPr lang="en-IN" sz="2400" dirty="0">
                <a:solidFill>
                  <a:schemeClr val="bg1"/>
                </a:solidFill>
              </a:rPr>
              <a:t>https://www.figma.com/design/50pqYDBxnHZGVJMhbmDb1O/Innovise?node-id=0-1&amp;t=JS2c3bzLLnmodPhQ-1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108</TotalTime>
  <Words>505</Words>
  <Application>Microsoft Office PowerPoint</Application>
  <PresentationFormat>Custom</PresentationFormat>
  <Paragraphs>40</Paragraphs>
  <Slides>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vt:i4>
      </vt:variant>
    </vt:vector>
  </HeadingPairs>
  <TitlesOfParts>
    <vt:vector size="14" baseType="lpstr">
      <vt:lpstr>Black Ops One</vt:lpstr>
      <vt:lpstr>Arial</vt:lpstr>
      <vt:lpstr>Libre Baskerville</vt:lpstr>
      <vt:lpstr>Montserrat Medium</vt:lpstr>
      <vt:lpstr>Calibri</vt:lpstr>
      <vt:lpstr>Canva Sans Bold</vt:lpstr>
      <vt:lpstr>Montserrat Bold</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H2C Submission  PPT Format.pptx</dc:title>
  <cp:lastModifiedBy>Jeel  Doshi - 60004230273</cp:lastModifiedBy>
  <cp:revision>6</cp:revision>
  <dcterms:created xsi:type="dcterms:W3CDTF">2006-08-16T00:00:00Z</dcterms:created>
  <dcterms:modified xsi:type="dcterms:W3CDTF">2025-02-27T16:20:44Z</dcterms:modified>
  <dc:identifier>DAGcX-165I8</dc:identifier>
</cp:coreProperties>
</file>